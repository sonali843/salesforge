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2" r:id="rId7"/>
    <p:sldId id="263" r:id="rId8"/>
    <p:sldId id="265" r:id="rId9"/>
    <p:sldId id="266" r:id="rId10"/>
    <p:sldId id="267" r:id="rId1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679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7940576" y="1680756"/>
            <a:ext cx="4937760" cy="1532227"/>
          </a:xfrm>
          <a:prstGeom prst="rect">
            <a:avLst/>
          </a:prstGeom>
          <a:noFill/>
          <a:ln/>
        </p:spPr>
        <p:txBody>
          <a:bodyPr wrap="none" lIns="0" tIns="0" rIns="0" bIns="0" rtlCol="0" anchor="t"/>
          <a:lstStyle/>
          <a:p>
            <a:pPr marL="0" indent="0" algn="l">
              <a:lnSpc>
                <a:spcPts val="4850"/>
              </a:lnSpc>
              <a:buNone/>
            </a:pPr>
            <a:endParaRPr lang="en-US" sz="6600" b="1" dirty="0">
              <a:latin typeface="Arial" panose="020B0604020202020204" pitchFamily="34" charset="0"/>
              <a:cs typeface="Arial" panose="020B0604020202020204" pitchFamily="34" charset="0"/>
            </a:endParaRPr>
          </a:p>
        </p:txBody>
      </p:sp>
      <p:sp>
        <p:nvSpPr>
          <p:cNvPr id="4" name="Text 1"/>
          <p:cNvSpPr/>
          <p:nvPr/>
        </p:nvSpPr>
        <p:spPr>
          <a:xfrm>
            <a:off x="6350437" y="4318397"/>
            <a:ext cx="3180278" cy="308610"/>
          </a:xfrm>
          <a:prstGeom prst="rect">
            <a:avLst/>
          </a:prstGeom>
          <a:noFill/>
          <a:ln/>
        </p:spPr>
        <p:txBody>
          <a:bodyPr wrap="none" lIns="0" tIns="0" rIns="0" bIns="0" rtlCol="0" anchor="t"/>
          <a:lstStyle/>
          <a:p>
            <a:pPr marL="0" indent="0" algn="l">
              <a:lnSpc>
                <a:spcPts val="2400"/>
              </a:lnSpc>
              <a:buNone/>
            </a:pPr>
            <a:endParaRPr lang="en-US" sz="1900" dirty="0"/>
          </a:p>
        </p:txBody>
      </p:sp>
      <p:sp>
        <p:nvSpPr>
          <p:cNvPr id="5" name="Rectangle 4">
            <a:extLst>
              <a:ext uri="{FF2B5EF4-FFF2-40B4-BE49-F238E27FC236}">
                <a16:creationId xmlns:a16="http://schemas.microsoft.com/office/drawing/2014/main" id="{E23E24B8-9F70-DE1A-2E7F-16F15B88F90C}"/>
              </a:ext>
            </a:extLst>
          </p:cNvPr>
          <p:cNvSpPr/>
          <p:nvPr/>
        </p:nvSpPr>
        <p:spPr>
          <a:xfrm>
            <a:off x="12778451" y="7652417"/>
            <a:ext cx="1979271" cy="598779"/>
          </a:xfrm>
          <a:prstGeom prst="rect">
            <a:avLst/>
          </a:prstGeom>
          <a:solidFill>
            <a:srgbClr val="F7F7F7"/>
          </a:solidFill>
          <a:ln>
            <a:solidFill>
              <a:srgbClr val="F7F7F7"/>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90B85416-A77D-680B-6645-80F15D99A865}"/>
              </a:ext>
            </a:extLst>
          </p:cNvPr>
          <p:cNvSpPr txBox="1"/>
          <p:nvPr/>
        </p:nvSpPr>
        <p:spPr>
          <a:xfrm>
            <a:off x="12952071" y="7905509"/>
            <a:ext cx="1446835" cy="92597"/>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9BE4FA10-A95B-BF09-FFDB-B9D65D339430}"/>
              </a:ext>
            </a:extLst>
          </p:cNvPr>
          <p:cNvSpPr txBox="1"/>
          <p:nvPr/>
        </p:nvSpPr>
        <p:spPr>
          <a:xfrm>
            <a:off x="7014258" y="3589156"/>
            <a:ext cx="7384648" cy="400110"/>
          </a:xfrm>
          <a:prstGeom prst="rect">
            <a:avLst/>
          </a:prstGeom>
          <a:noFill/>
        </p:spPr>
        <p:txBody>
          <a:bodyPr wrap="square">
            <a:spAutoFit/>
          </a:bodyPr>
          <a:lstStyle/>
          <a:p>
            <a:pPr marL="0" indent="0" algn="l">
              <a:lnSpc>
                <a:spcPts val="2400"/>
              </a:lnSpc>
              <a:buNone/>
            </a:pPr>
            <a:r>
              <a:rPr lang="en-US" sz="2400" dirty="0">
                <a:solidFill>
                  <a:srgbClr val="383838"/>
                </a:solidFill>
                <a:latin typeface="Arial" panose="020B0604020202020204" pitchFamily="34" charset="0"/>
                <a:ea typeface="Patrick Hand" pitchFamily="34" charset="-122"/>
                <a:cs typeface="Arial" panose="020B0604020202020204" pitchFamily="34" charset="0"/>
              </a:rPr>
              <a:t>                  Protecting Data in the Digital World</a:t>
            </a:r>
            <a:endParaRPr lang="en-US" sz="24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8CD1F1B-C03F-5DA5-36ED-89128DA18244}"/>
              </a:ext>
            </a:extLst>
          </p:cNvPr>
          <p:cNvSpPr txBox="1"/>
          <p:nvPr/>
        </p:nvSpPr>
        <p:spPr>
          <a:xfrm>
            <a:off x="11563109" y="5798916"/>
            <a:ext cx="2651688" cy="1477328"/>
          </a:xfrm>
          <a:prstGeom prst="rect">
            <a:avLst/>
          </a:prstGeom>
          <a:noFill/>
        </p:spPr>
        <p:txBody>
          <a:bodyPr wrap="none" rtlCol="0">
            <a:spAutoFit/>
          </a:bodyPr>
          <a:lstStyle/>
          <a:p>
            <a:r>
              <a:rPr lang="en-IN" sz="2400" dirty="0">
                <a:latin typeface="Arial" panose="020B0604020202020204" pitchFamily="34" charset="0"/>
                <a:cs typeface="Arial" panose="020B0604020202020204" pitchFamily="34" charset="0"/>
              </a:rPr>
              <a:t>Presented by:</a:t>
            </a:r>
          </a:p>
          <a:p>
            <a:r>
              <a:rPr lang="en-IN" sz="2400" dirty="0">
                <a:latin typeface="Arial" panose="020B0604020202020204" pitchFamily="34" charset="0"/>
                <a:cs typeface="Arial" panose="020B0604020202020204" pitchFamily="34" charset="0"/>
              </a:rPr>
              <a:t>Konderu Deepika</a:t>
            </a:r>
          </a:p>
          <a:p>
            <a:pPr algn="just"/>
            <a:r>
              <a:rPr lang="en-IN" sz="2400" dirty="0">
                <a:latin typeface="Arial" panose="020B0604020202020204" pitchFamily="34" charset="0"/>
                <a:cs typeface="Arial" panose="020B0604020202020204" pitchFamily="34" charset="0"/>
              </a:rPr>
              <a:t>24H51A66E8</a:t>
            </a:r>
          </a:p>
          <a:p>
            <a:endParaRPr lang="en-IN" dirty="0"/>
          </a:p>
        </p:txBody>
      </p:sp>
      <p:sp>
        <p:nvSpPr>
          <p:cNvPr id="13" name="TextBox 12">
            <a:extLst>
              <a:ext uri="{FF2B5EF4-FFF2-40B4-BE49-F238E27FC236}">
                <a16:creationId xmlns:a16="http://schemas.microsoft.com/office/drawing/2014/main" id="{05432C92-6393-3282-7D0B-C4C0D79E97ED}"/>
              </a:ext>
            </a:extLst>
          </p:cNvPr>
          <p:cNvSpPr txBox="1"/>
          <p:nvPr/>
        </p:nvSpPr>
        <p:spPr>
          <a:xfrm>
            <a:off x="7014258" y="2369341"/>
            <a:ext cx="9294471" cy="773802"/>
          </a:xfrm>
          <a:prstGeom prst="rect">
            <a:avLst/>
          </a:prstGeom>
          <a:noFill/>
        </p:spPr>
        <p:txBody>
          <a:bodyPr wrap="square">
            <a:spAutoFit/>
          </a:bodyPr>
          <a:lstStyle/>
          <a:p>
            <a:pPr marL="0" indent="0" algn="l">
              <a:lnSpc>
                <a:spcPts val="4850"/>
              </a:lnSpc>
              <a:buNone/>
            </a:pPr>
            <a:r>
              <a:rPr lang="en-US" sz="7200" b="1" dirty="0">
                <a:solidFill>
                  <a:srgbClr val="383838"/>
                </a:solidFill>
                <a:latin typeface="Arial" panose="020B0604020202020204" pitchFamily="34" charset="0"/>
                <a:ea typeface="Patrick Hand" pitchFamily="34" charset="-122"/>
                <a:cs typeface="Arial" panose="020B0604020202020204" pitchFamily="34" charset="0"/>
              </a:rPr>
              <a:t>Cyber Security</a:t>
            </a:r>
            <a:endParaRPr lang="en-US" sz="7200" b="1"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85455" y="617220"/>
            <a:ext cx="4488775" cy="561023"/>
          </a:xfrm>
          <a:prstGeom prst="rect">
            <a:avLst/>
          </a:prstGeom>
          <a:noFill/>
          <a:ln/>
        </p:spPr>
        <p:txBody>
          <a:bodyPr wrap="none" lIns="0" tIns="0" rIns="0" bIns="0" rtlCol="0" anchor="t"/>
          <a:lstStyle/>
          <a:p>
            <a:pPr marL="0" indent="0" algn="l">
              <a:lnSpc>
                <a:spcPts val="4400"/>
              </a:lnSpc>
              <a:buNone/>
            </a:pPr>
            <a:r>
              <a:rPr lang="en-US" sz="4800" dirty="0">
                <a:solidFill>
                  <a:srgbClr val="383838"/>
                </a:solidFill>
                <a:latin typeface="Arial" panose="020B0604020202020204" pitchFamily="34" charset="0"/>
                <a:ea typeface="Patrick Hand" pitchFamily="34" charset="-122"/>
                <a:cs typeface="Arial" panose="020B0604020202020204" pitchFamily="34" charset="0"/>
              </a:rPr>
              <a:t>What is Cyber Security?</a:t>
            </a:r>
            <a:endParaRPr lang="en-US" sz="4800" dirty="0">
              <a:latin typeface="Arial" panose="020B0604020202020204" pitchFamily="34" charset="0"/>
              <a:cs typeface="Arial" panose="020B0604020202020204" pitchFamily="34" charset="0"/>
            </a:endParaRPr>
          </a:p>
        </p:txBody>
      </p:sp>
      <p:sp>
        <p:nvSpPr>
          <p:cNvPr id="3" name="Text 1"/>
          <p:cNvSpPr/>
          <p:nvPr/>
        </p:nvSpPr>
        <p:spPr>
          <a:xfrm>
            <a:off x="785455" y="1716762"/>
            <a:ext cx="6256020" cy="1077278"/>
          </a:xfrm>
          <a:prstGeom prst="rect">
            <a:avLst/>
          </a:prstGeom>
          <a:noFill/>
          <a:ln/>
        </p:spPr>
        <p:txBody>
          <a:bodyPr wrap="square" lIns="0" tIns="0" rIns="0" bIns="0" rtlCol="0" anchor="t"/>
          <a:lstStyle/>
          <a:p>
            <a:pPr marL="0" indent="0" algn="l">
              <a:lnSpc>
                <a:spcPts val="2800"/>
              </a:lnSpc>
              <a:buNone/>
            </a:pPr>
            <a:r>
              <a:rPr lang="en-US" sz="2000" dirty="0">
                <a:solidFill>
                  <a:srgbClr val="383838"/>
                </a:solidFill>
                <a:latin typeface="Arial" panose="020B0604020202020204" pitchFamily="34" charset="0"/>
                <a:ea typeface="Patrick Hand" pitchFamily="34" charset="-122"/>
                <a:cs typeface="Arial" panose="020B0604020202020204" pitchFamily="34" charset="0"/>
              </a:rPr>
              <a:t>Cyber security is the practice of protecting computers, networks, and data from digital attacks, theft, and damage. It involves technologies, processes, and practices designed to safeguard our information in the online world.</a:t>
            </a:r>
          </a:p>
          <a:p>
            <a:pPr marL="0" indent="0" algn="l">
              <a:lnSpc>
                <a:spcPts val="2800"/>
              </a:lnSpc>
              <a:buNone/>
            </a:pPr>
            <a:endParaRPr lang="en-US" sz="1750" dirty="0">
              <a:latin typeface="Arial" panose="020B0604020202020204" pitchFamily="34" charset="0"/>
              <a:cs typeface="Arial" panose="020B0604020202020204" pitchFamily="34" charset="0"/>
            </a:endParaRPr>
          </a:p>
        </p:txBody>
      </p:sp>
      <p:sp>
        <p:nvSpPr>
          <p:cNvPr id="4" name="Text 2"/>
          <p:cNvSpPr/>
          <p:nvPr/>
        </p:nvSpPr>
        <p:spPr>
          <a:xfrm>
            <a:off x="785455" y="3910370"/>
            <a:ext cx="6256020" cy="1077278"/>
          </a:xfrm>
          <a:prstGeom prst="rect">
            <a:avLst/>
          </a:prstGeom>
          <a:noFill/>
          <a:ln/>
        </p:spPr>
        <p:txBody>
          <a:bodyPr wrap="square" lIns="0" tIns="0" rIns="0" bIns="0" rtlCol="0" anchor="t"/>
          <a:lstStyle/>
          <a:p>
            <a:pPr marL="0" indent="0" algn="l">
              <a:lnSpc>
                <a:spcPts val="2800"/>
              </a:lnSpc>
              <a:buNone/>
            </a:pPr>
            <a:endParaRPr lang="en-US" sz="2000" dirty="0">
              <a:solidFill>
                <a:srgbClr val="383838"/>
              </a:solidFill>
              <a:latin typeface="Arial" panose="020B0604020202020204" pitchFamily="34" charset="0"/>
              <a:ea typeface="Patrick Hand" pitchFamily="34" charset="-122"/>
              <a:cs typeface="Arial" panose="020B0604020202020204" pitchFamily="34" charset="0"/>
            </a:endParaRPr>
          </a:p>
          <a:p>
            <a:pPr marL="0" indent="0" algn="l">
              <a:lnSpc>
                <a:spcPts val="2800"/>
              </a:lnSpc>
              <a:buNone/>
            </a:pPr>
            <a:r>
              <a:rPr lang="en-US" sz="2000" dirty="0">
                <a:solidFill>
                  <a:srgbClr val="383838"/>
                </a:solidFill>
                <a:latin typeface="Arial" panose="020B0604020202020204" pitchFamily="34" charset="0"/>
                <a:ea typeface="Patrick Hand" pitchFamily="34" charset="-122"/>
                <a:cs typeface="Arial" panose="020B0604020202020204" pitchFamily="34" charset="0"/>
              </a:rPr>
              <a:t>Think of it as a digital lock and alarm system that keeps your personal information, passwords, and sensitive data safe from hackers and cybercriminals</a:t>
            </a:r>
            <a:r>
              <a:rPr lang="en-US" sz="1750" dirty="0">
                <a:solidFill>
                  <a:srgbClr val="383838"/>
                </a:solidFill>
                <a:latin typeface="Arial" panose="020B0604020202020204" pitchFamily="34" charset="0"/>
                <a:ea typeface="Patrick Hand" pitchFamily="34" charset="-122"/>
                <a:cs typeface="Arial" panose="020B0604020202020204" pitchFamily="34" charset="0"/>
              </a:rPr>
              <a:t>.</a:t>
            </a:r>
            <a:endParaRPr lang="en-US" sz="1750" dirty="0">
              <a:latin typeface="Arial" panose="020B0604020202020204" pitchFamily="34" charset="0"/>
              <a:cs typeface="Arial" panose="020B0604020202020204" pitchFamily="34" charset="0"/>
            </a:endParaRPr>
          </a:p>
        </p:txBody>
      </p:sp>
      <p:pic>
        <p:nvPicPr>
          <p:cNvPr id="5" name="Image 0" descr="preencoded.png"/>
          <p:cNvPicPr>
            <a:picLocks noChangeAspect="1"/>
          </p:cNvPicPr>
          <p:nvPr/>
        </p:nvPicPr>
        <p:blipFill>
          <a:blip r:embed="rId3"/>
          <a:stretch>
            <a:fillRect/>
          </a:stretch>
        </p:blipFill>
        <p:spPr>
          <a:xfrm>
            <a:off x="7990599" y="1178243"/>
            <a:ext cx="6256020" cy="6256020"/>
          </a:xfrm>
          <a:prstGeom prst="rect">
            <a:avLst/>
          </a:prstGeom>
        </p:spPr>
      </p:pic>
      <p:sp>
        <p:nvSpPr>
          <p:cNvPr id="6" name="Rectangle 5">
            <a:extLst>
              <a:ext uri="{FF2B5EF4-FFF2-40B4-BE49-F238E27FC236}">
                <a16:creationId xmlns:a16="http://schemas.microsoft.com/office/drawing/2014/main" id="{E624A9F9-DC10-6B90-E1D1-A4A622BC7EAA}"/>
              </a:ext>
            </a:extLst>
          </p:cNvPr>
          <p:cNvSpPr/>
          <p:nvPr/>
        </p:nvSpPr>
        <p:spPr>
          <a:xfrm>
            <a:off x="12778451" y="7652417"/>
            <a:ext cx="1979271" cy="598779"/>
          </a:xfrm>
          <a:prstGeom prst="rect">
            <a:avLst/>
          </a:prstGeom>
          <a:solidFill>
            <a:srgbClr val="F7F7F7"/>
          </a:solidFill>
          <a:ln>
            <a:solidFill>
              <a:srgbClr val="F7F7F7"/>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5309" y="1006792"/>
            <a:ext cx="4646652" cy="570667"/>
          </a:xfrm>
          <a:prstGeom prst="rect">
            <a:avLst/>
          </a:prstGeom>
          <a:noFill/>
          <a:ln/>
        </p:spPr>
        <p:txBody>
          <a:bodyPr wrap="none" lIns="0" tIns="0" rIns="0" bIns="0" rtlCol="0" anchor="t"/>
          <a:lstStyle/>
          <a:p>
            <a:pPr marL="0" indent="0" algn="l">
              <a:lnSpc>
                <a:spcPts val="4450"/>
              </a:lnSpc>
              <a:buNone/>
            </a:pPr>
            <a:r>
              <a:rPr lang="en-US" sz="4400" b="1" dirty="0">
                <a:solidFill>
                  <a:srgbClr val="383838"/>
                </a:solidFill>
                <a:latin typeface="Arial" panose="020B0604020202020204" pitchFamily="34" charset="0"/>
                <a:ea typeface="Patrick Hand" pitchFamily="34" charset="-122"/>
                <a:cs typeface="Arial" panose="020B0604020202020204" pitchFamily="34" charset="0"/>
              </a:rPr>
              <a:t>Why Cyber Security Matters</a:t>
            </a:r>
            <a:endParaRPr lang="en-US" sz="4400" b="1" dirty="0">
              <a:latin typeface="Arial" panose="020B0604020202020204" pitchFamily="34" charset="0"/>
              <a:cs typeface="Arial" panose="020B0604020202020204" pitchFamily="34" charset="0"/>
            </a:endParaRPr>
          </a:p>
        </p:txBody>
      </p:sp>
      <p:sp>
        <p:nvSpPr>
          <p:cNvPr id="4" name="Shape 1"/>
          <p:cNvSpPr/>
          <p:nvPr/>
        </p:nvSpPr>
        <p:spPr>
          <a:xfrm>
            <a:off x="6285309" y="1919883"/>
            <a:ext cx="3423047" cy="2194917"/>
          </a:xfrm>
          <a:prstGeom prst="roundRect">
            <a:avLst>
              <a:gd name="adj" fmla="val 3303"/>
            </a:avLst>
          </a:prstGeom>
          <a:solidFill>
            <a:srgbClr val="E6E6E6"/>
          </a:solidFill>
          <a:ln w="7620">
            <a:solidFill>
              <a:srgbClr val="CCCCCC"/>
            </a:solidFill>
            <a:prstDash val="solid"/>
          </a:ln>
        </p:spPr>
        <p:txBody>
          <a:bodyPr/>
          <a:lstStyle/>
          <a:p>
            <a:endParaRPr lang="en-IN" dirty="0"/>
          </a:p>
        </p:txBody>
      </p:sp>
      <p:sp>
        <p:nvSpPr>
          <p:cNvPr id="7" name="Text 3"/>
          <p:cNvSpPr/>
          <p:nvPr/>
        </p:nvSpPr>
        <p:spPr>
          <a:xfrm>
            <a:off x="6521172" y="2041562"/>
            <a:ext cx="2143327" cy="302421"/>
          </a:xfrm>
          <a:prstGeom prst="rect">
            <a:avLst/>
          </a:prstGeom>
          <a:noFill/>
          <a:ln/>
        </p:spPr>
        <p:txBody>
          <a:bodyPr wrap="none" lIns="0" tIns="0" rIns="0" bIns="0" rtlCol="0" anchor="t"/>
          <a:lstStyle/>
          <a:p>
            <a:pPr marL="0" indent="0" algn="l">
              <a:lnSpc>
                <a:spcPts val="2200"/>
              </a:lnSpc>
              <a:buNone/>
            </a:pPr>
            <a:r>
              <a:rPr lang="en-US" sz="1750" b="1" dirty="0">
                <a:solidFill>
                  <a:srgbClr val="383838"/>
                </a:solidFill>
                <a:latin typeface="Arial" panose="020B0604020202020204" pitchFamily="34" charset="0"/>
                <a:ea typeface="Patrick Hand" pitchFamily="34" charset="-122"/>
                <a:cs typeface="Arial" panose="020B0604020202020204" pitchFamily="34" charset="0"/>
              </a:rPr>
              <a:t>Personal Protection</a:t>
            </a:r>
            <a:endParaRPr lang="en-US" sz="1750" b="1" dirty="0">
              <a:latin typeface="Arial" panose="020B0604020202020204" pitchFamily="34" charset="0"/>
              <a:cs typeface="Arial" panose="020B0604020202020204" pitchFamily="34" charset="0"/>
            </a:endParaRPr>
          </a:p>
        </p:txBody>
      </p:sp>
      <p:sp>
        <p:nvSpPr>
          <p:cNvPr id="8" name="Text 4"/>
          <p:cNvSpPr/>
          <p:nvPr/>
        </p:nvSpPr>
        <p:spPr>
          <a:xfrm>
            <a:off x="6411951" y="2465662"/>
            <a:ext cx="3296405" cy="2120864"/>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Arial" panose="020B0604020202020204" pitchFamily="34" charset="0"/>
                <a:ea typeface="Patrick Hand" pitchFamily="34" charset="-122"/>
                <a:cs typeface="Arial" panose="020B0604020202020204" pitchFamily="34" charset="0"/>
              </a:rPr>
              <a:t>Safeguards your identity, financial data, and private information from theft and misuse</a:t>
            </a:r>
            <a:endParaRPr lang="en-US" sz="1750" dirty="0">
              <a:latin typeface="Arial" panose="020B0604020202020204" pitchFamily="34" charset="0"/>
              <a:cs typeface="Arial" panose="020B0604020202020204" pitchFamily="34" charset="0"/>
            </a:endParaRPr>
          </a:p>
        </p:txBody>
      </p:sp>
      <p:sp>
        <p:nvSpPr>
          <p:cNvPr id="9" name="Shape 5"/>
          <p:cNvSpPr/>
          <p:nvPr/>
        </p:nvSpPr>
        <p:spPr>
          <a:xfrm>
            <a:off x="10172463" y="1919883"/>
            <a:ext cx="3423048" cy="2194917"/>
          </a:xfrm>
          <a:prstGeom prst="roundRect">
            <a:avLst>
              <a:gd name="adj" fmla="val 3303"/>
            </a:avLst>
          </a:prstGeom>
          <a:solidFill>
            <a:srgbClr val="E6E6E6"/>
          </a:solidFill>
          <a:ln w="7620">
            <a:solidFill>
              <a:srgbClr val="CCCCCC"/>
            </a:solidFill>
            <a:prstDash val="solid"/>
          </a:ln>
        </p:spPr>
        <p:txBody>
          <a:bodyPr/>
          <a:lstStyle/>
          <a:p>
            <a:endParaRPr lang="en-IN" dirty="0"/>
          </a:p>
        </p:txBody>
      </p:sp>
      <p:sp>
        <p:nvSpPr>
          <p:cNvPr id="12" name="Text 7"/>
          <p:cNvSpPr/>
          <p:nvPr/>
        </p:nvSpPr>
        <p:spPr>
          <a:xfrm>
            <a:off x="10408326" y="2041562"/>
            <a:ext cx="1623840" cy="302421"/>
          </a:xfrm>
          <a:prstGeom prst="rect">
            <a:avLst/>
          </a:prstGeom>
          <a:noFill/>
          <a:ln/>
        </p:spPr>
        <p:txBody>
          <a:bodyPr wrap="none" lIns="0" tIns="0" rIns="0" bIns="0" rtlCol="0" anchor="t"/>
          <a:lstStyle/>
          <a:p>
            <a:pPr marL="0" indent="0" algn="l">
              <a:lnSpc>
                <a:spcPts val="2200"/>
              </a:lnSpc>
              <a:buNone/>
            </a:pPr>
            <a:r>
              <a:rPr lang="en-US" sz="1750" b="1" dirty="0">
                <a:solidFill>
                  <a:srgbClr val="383838"/>
                </a:solidFill>
                <a:latin typeface="Arial" panose="020B0604020202020204" pitchFamily="34" charset="0"/>
                <a:ea typeface="Patrick Hand" pitchFamily="34" charset="-122"/>
                <a:cs typeface="Arial" panose="020B0604020202020204" pitchFamily="34" charset="0"/>
              </a:rPr>
              <a:t>Business Security</a:t>
            </a:r>
            <a:endParaRPr lang="en-US" sz="1750" b="1" dirty="0">
              <a:latin typeface="Arial" panose="020B0604020202020204" pitchFamily="34" charset="0"/>
              <a:cs typeface="Arial" panose="020B0604020202020204" pitchFamily="34" charset="0"/>
            </a:endParaRPr>
          </a:p>
        </p:txBody>
      </p:sp>
      <p:sp>
        <p:nvSpPr>
          <p:cNvPr id="13" name="Text 8"/>
          <p:cNvSpPr/>
          <p:nvPr/>
        </p:nvSpPr>
        <p:spPr>
          <a:xfrm>
            <a:off x="10408326" y="2343984"/>
            <a:ext cx="2942236" cy="1571150"/>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Arial" panose="020B0604020202020204" pitchFamily="34" charset="0"/>
                <a:ea typeface="Patrick Hand" pitchFamily="34" charset="-122"/>
                <a:cs typeface="Arial" panose="020B0604020202020204" pitchFamily="34" charset="0"/>
              </a:rPr>
              <a:t>Protects company secrets, customer records, and prevents costly data breaches</a:t>
            </a:r>
            <a:endParaRPr lang="en-US" sz="1750" dirty="0">
              <a:latin typeface="Arial" panose="020B0604020202020204" pitchFamily="34" charset="0"/>
              <a:cs typeface="Arial" panose="020B0604020202020204" pitchFamily="34" charset="0"/>
            </a:endParaRPr>
          </a:p>
        </p:txBody>
      </p:sp>
      <p:sp>
        <p:nvSpPr>
          <p:cNvPr id="14" name="Shape 9"/>
          <p:cNvSpPr/>
          <p:nvPr/>
        </p:nvSpPr>
        <p:spPr>
          <a:xfrm>
            <a:off x="6285309" y="5050630"/>
            <a:ext cx="7631413" cy="1464589"/>
          </a:xfrm>
          <a:prstGeom prst="roundRect">
            <a:avLst>
              <a:gd name="adj" fmla="val 4414"/>
            </a:avLst>
          </a:prstGeom>
          <a:solidFill>
            <a:srgbClr val="E6E6E6"/>
          </a:solidFill>
          <a:ln w="7620">
            <a:solidFill>
              <a:srgbClr val="CCCCCC"/>
            </a:solidFill>
            <a:prstDash val="solid"/>
          </a:ln>
        </p:spPr>
        <p:txBody>
          <a:bodyPr/>
          <a:lstStyle/>
          <a:p>
            <a:endParaRPr lang="en-IN" dirty="0"/>
          </a:p>
        </p:txBody>
      </p:sp>
      <p:sp>
        <p:nvSpPr>
          <p:cNvPr id="17" name="Text 11"/>
          <p:cNvSpPr/>
          <p:nvPr/>
        </p:nvSpPr>
        <p:spPr>
          <a:xfrm>
            <a:off x="6521172" y="5132305"/>
            <a:ext cx="1831091" cy="553645"/>
          </a:xfrm>
          <a:prstGeom prst="rect">
            <a:avLst/>
          </a:prstGeom>
          <a:noFill/>
          <a:ln/>
        </p:spPr>
        <p:txBody>
          <a:bodyPr wrap="none" lIns="0" tIns="0" rIns="0" bIns="0" rtlCol="0" anchor="t"/>
          <a:lstStyle/>
          <a:p>
            <a:pPr marL="0" indent="0" algn="l">
              <a:lnSpc>
                <a:spcPts val="2200"/>
              </a:lnSpc>
              <a:buNone/>
            </a:pPr>
            <a:r>
              <a:rPr lang="en-US" sz="1750" b="1" dirty="0">
                <a:solidFill>
                  <a:srgbClr val="383838"/>
                </a:solidFill>
                <a:latin typeface="Arial" panose="020B0604020202020204" pitchFamily="34" charset="0"/>
                <a:ea typeface="Patrick Hand" pitchFamily="34" charset="-122"/>
                <a:cs typeface="Arial" panose="020B0604020202020204" pitchFamily="34" charset="0"/>
              </a:rPr>
              <a:t>National Safety</a:t>
            </a:r>
            <a:endParaRPr lang="en-US" sz="1750" b="1" dirty="0">
              <a:latin typeface="Arial" panose="020B0604020202020204" pitchFamily="34" charset="0"/>
              <a:cs typeface="Arial" panose="020B0604020202020204" pitchFamily="34" charset="0"/>
            </a:endParaRPr>
          </a:p>
        </p:txBody>
      </p:sp>
      <p:sp>
        <p:nvSpPr>
          <p:cNvPr id="18" name="Text 12"/>
          <p:cNvSpPr/>
          <p:nvPr/>
        </p:nvSpPr>
        <p:spPr>
          <a:xfrm>
            <a:off x="6411951" y="5522356"/>
            <a:ext cx="7183677" cy="1464589"/>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Arial" panose="020B0604020202020204" pitchFamily="34" charset="0"/>
                <a:ea typeface="Patrick Hand" pitchFamily="34" charset="-122"/>
                <a:cs typeface="Arial" panose="020B0604020202020204" pitchFamily="34" charset="0"/>
              </a:rPr>
              <a:t>Defends critical infrastructure like power grids, hospitals, and government</a:t>
            </a:r>
          </a:p>
          <a:p>
            <a:pPr marL="0" indent="0" algn="l">
              <a:lnSpc>
                <a:spcPts val="2850"/>
              </a:lnSpc>
              <a:buNone/>
            </a:pPr>
            <a:r>
              <a:rPr lang="en-US" sz="1750" dirty="0">
                <a:solidFill>
                  <a:srgbClr val="383838"/>
                </a:solidFill>
                <a:latin typeface="Arial" panose="020B0604020202020204" pitchFamily="34" charset="0"/>
                <a:ea typeface="Patrick Hand" pitchFamily="34" charset="-122"/>
                <a:cs typeface="Arial" panose="020B0604020202020204" pitchFamily="34" charset="0"/>
              </a:rPr>
              <a:t> systems</a:t>
            </a:r>
            <a:endParaRPr lang="en-US" sz="1750"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85083754-CFE8-4FD7-F601-A99EB88610D4}"/>
              </a:ext>
            </a:extLst>
          </p:cNvPr>
          <p:cNvSpPr/>
          <p:nvPr/>
        </p:nvSpPr>
        <p:spPr>
          <a:xfrm>
            <a:off x="12778451" y="7652417"/>
            <a:ext cx="1979271" cy="598779"/>
          </a:xfrm>
          <a:prstGeom prst="rect">
            <a:avLst/>
          </a:prstGeom>
          <a:solidFill>
            <a:srgbClr val="F7F7F7"/>
          </a:solidFill>
          <a:ln>
            <a:solidFill>
              <a:srgbClr val="F7F7F7"/>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4037" y="726758"/>
            <a:ext cx="4937760" cy="617101"/>
          </a:xfrm>
          <a:prstGeom prst="rect">
            <a:avLst/>
          </a:prstGeom>
          <a:noFill/>
          <a:ln/>
        </p:spPr>
        <p:txBody>
          <a:bodyPr wrap="none" lIns="0" tIns="0" rIns="0" bIns="0" rtlCol="0" anchor="t"/>
          <a:lstStyle/>
          <a:p>
            <a:pPr marL="0" indent="0" algn="l">
              <a:lnSpc>
                <a:spcPts val="4850"/>
              </a:lnSpc>
              <a:buNone/>
            </a:pPr>
            <a:r>
              <a:rPr lang="en-US" sz="4400" b="1" dirty="0">
                <a:solidFill>
                  <a:srgbClr val="383838"/>
                </a:solidFill>
                <a:latin typeface="Arial" panose="020B0604020202020204" pitchFamily="34" charset="0"/>
                <a:ea typeface="Patrick Hand" pitchFamily="34" charset="-122"/>
                <a:cs typeface="Arial" panose="020B0604020202020204" pitchFamily="34" charset="0"/>
              </a:rPr>
              <a:t>Common Cyber Threats</a:t>
            </a:r>
            <a:endParaRPr lang="en-US" sz="4400" b="1" dirty="0">
              <a:latin typeface="Arial" panose="020B0604020202020204" pitchFamily="34" charset="0"/>
              <a:cs typeface="Arial" panose="020B0604020202020204" pitchFamily="34" charset="0"/>
            </a:endParaRPr>
          </a:p>
        </p:txBody>
      </p:sp>
      <p:sp>
        <p:nvSpPr>
          <p:cNvPr id="3" name="Shape 1"/>
          <p:cNvSpPr/>
          <p:nvPr/>
        </p:nvSpPr>
        <p:spPr>
          <a:xfrm>
            <a:off x="864037" y="2207895"/>
            <a:ext cx="4136231" cy="2536388"/>
          </a:xfrm>
          <a:prstGeom prst="roundRect">
            <a:avLst>
              <a:gd name="adj" fmla="val 5768"/>
            </a:avLst>
          </a:prstGeom>
          <a:solidFill>
            <a:srgbClr val="F7F7F7"/>
          </a:solidFill>
          <a:ln/>
        </p:spPr>
        <p:txBody>
          <a:bodyPr/>
          <a:lstStyle/>
          <a:p>
            <a:endParaRPr lang="en-IN" dirty="0"/>
          </a:p>
        </p:txBody>
      </p:sp>
      <p:sp>
        <p:nvSpPr>
          <p:cNvPr id="7" name="Text 5"/>
          <p:cNvSpPr/>
          <p:nvPr/>
        </p:nvSpPr>
        <p:spPr>
          <a:xfrm>
            <a:off x="1141333" y="2825115"/>
            <a:ext cx="2468880" cy="308610"/>
          </a:xfrm>
          <a:prstGeom prst="rect">
            <a:avLst/>
          </a:prstGeom>
          <a:noFill/>
          <a:ln/>
        </p:spPr>
        <p:txBody>
          <a:bodyPr wrap="none" lIns="0" tIns="0" rIns="0" bIns="0" rtlCol="0" anchor="t"/>
          <a:lstStyle/>
          <a:p>
            <a:pPr marL="0" indent="0" algn="l">
              <a:lnSpc>
                <a:spcPts val="2400"/>
              </a:lnSpc>
              <a:buNone/>
            </a:pPr>
            <a:r>
              <a:rPr lang="en-US" sz="2800" b="1" dirty="0">
                <a:solidFill>
                  <a:srgbClr val="383838"/>
                </a:solidFill>
                <a:latin typeface="Arial" panose="020B0604020202020204" pitchFamily="34" charset="0"/>
                <a:ea typeface="Patrick Hand" pitchFamily="34" charset="-122"/>
                <a:cs typeface="Arial" panose="020B0604020202020204" pitchFamily="34" charset="0"/>
              </a:rPr>
              <a:t>Phishing</a:t>
            </a:r>
            <a:endParaRPr lang="en-US" sz="2800" b="1" dirty="0">
              <a:latin typeface="Arial" panose="020B0604020202020204" pitchFamily="34" charset="0"/>
              <a:cs typeface="Arial" panose="020B0604020202020204" pitchFamily="34" charset="0"/>
            </a:endParaRPr>
          </a:p>
        </p:txBody>
      </p:sp>
      <p:sp>
        <p:nvSpPr>
          <p:cNvPr id="8" name="Text 6"/>
          <p:cNvSpPr/>
          <p:nvPr/>
        </p:nvSpPr>
        <p:spPr>
          <a:xfrm>
            <a:off x="1141333" y="3281839"/>
            <a:ext cx="3581638" cy="1185148"/>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Arial" panose="020B0604020202020204" pitchFamily="34" charset="0"/>
                <a:ea typeface="Patrick Hand" pitchFamily="34" charset="-122"/>
                <a:cs typeface="Arial" panose="020B0604020202020204" pitchFamily="34" charset="0"/>
              </a:rPr>
              <a:t>Fake emails or messages that trick you into sharing passwords or clicking dangerous links</a:t>
            </a:r>
            <a:endParaRPr lang="en-US" sz="1900" dirty="0">
              <a:latin typeface="Arial" panose="020B0604020202020204" pitchFamily="34" charset="0"/>
              <a:cs typeface="Arial" panose="020B0604020202020204" pitchFamily="34" charset="0"/>
            </a:endParaRPr>
          </a:p>
        </p:txBody>
      </p:sp>
      <p:sp>
        <p:nvSpPr>
          <p:cNvPr id="9" name="Shape 7"/>
          <p:cNvSpPr/>
          <p:nvPr/>
        </p:nvSpPr>
        <p:spPr>
          <a:xfrm>
            <a:off x="5247084" y="2207895"/>
            <a:ext cx="4136231" cy="2536388"/>
          </a:xfrm>
          <a:prstGeom prst="roundRect">
            <a:avLst>
              <a:gd name="adj" fmla="val 5768"/>
            </a:avLst>
          </a:prstGeom>
          <a:solidFill>
            <a:srgbClr val="F7F7F7"/>
          </a:solidFill>
          <a:ln/>
        </p:spPr>
      </p:sp>
      <p:sp>
        <p:nvSpPr>
          <p:cNvPr id="12" name="Text 10"/>
          <p:cNvSpPr/>
          <p:nvPr/>
        </p:nvSpPr>
        <p:spPr>
          <a:xfrm>
            <a:off x="7167086" y="2022753"/>
            <a:ext cx="296228" cy="370284"/>
          </a:xfrm>
          <a:prstGeom prst="rect">
            <a:avLst/>
          </a:prstGeom>
          <a:noFill/>
          <a:ln/>
        </p:spPr>
        <p:txBody>
          <a:bodyPr wrap="none" lIns="0" tIns="0" rIns="0" bIns="0" rtlCol="0" anchor="t"/>
          <a:lstStyle/>
          <a:p>
            <a:pPr marL="0" indent="0" algn="l">
              <a:lnSpc>
                <a:spcPts val="3700"/>
              </a:lnSpc>
              <a:buNone/>
            </a:pPr>
            <a:endParaRPr lang="en-US" sz="2300" dirty="0"/>
          </a:p>
        </p:txBody>
      </p:sp>
      <p:sp>
        <p:nvSpPr>
          <p:cNvPr id="13" name="Text 11"/>
          <p:cNvSpPr/>
          <p:nvPr/>
        </p:nvSpPr>
        <p:spPr>
          <a:xfrm>
            <a:off x="5524381" y="2825115"/>
            <a:ext cx="2468880" cy="308610"/>
          </a:xfrm>
          <a:prstGeom prst="rect">
            <a:avLst/>
          </a:prstGeom>
          <a:noFill/>
          <a:ln/>
        </p:spPr>
        <p:txBody>
          <a:bodyPr wrap="none" lIns="0" tIns="0" rIns="0" bIns="0" rtlCol="0" anchor="t"/>
          <a:lstStyle/>
          <a:p>
            <a:pPr marL="0" indent="0" algn="l">
              <a:lnSpc>
                <a:spcPts val="2400"/>
              </a:lnSpc>
              <a:buNone/>
            </a:pPr>
            <a:r>
              <a:rPr lang="en-US" sz="2800" b="1" dirty="0">
                <a:solidFill>
                  <a:srgbClr val="383838"/>
                </a:solidFill>
                <a:latin typeface="Arial" panose="020B0604020202020204" pitchFamily="34" charset="0"/>
                <a:ea typeface="Patrick Hand" pitchFamily="34" charset="-122"/>
                <a:cs typeface="Arial" panose="020B0604020202020204" pitchFamily="34" charset="0"/>
              </a:rPr>
              <a:t>Malware</a:t>
            </a:r>
            <a:endParaRPr lang="en-US" sz="2800" b="1" dirty="0">
              <a:latin typeface="Arial" panose="020B0604020202020204" pitchFamily="34" charset="0"/>
              <a:cs typeface="Arial" panose="020B0604020202020204" pitchFamily="34" charset="0"/>
            </a:endParaRPr>
          </a:p>
        </p:txBody>
      </p:sp>
      <p:sp>
        <p:nvSpPr>
          <p:cNvPr id="14" name="Text 12"/>
          <p:cNvSpPr/>
          <p:nvPr/>
        </p:nvSpPr>
        <p:spPr>
          <a:xfrm>
            <a:off x="5524381" y="3281839"/>
            <a:ext cx="3581638" cy="1185148"/>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Arial" panose="020B0604020202020204" pitchFamily="34" charset="0"/>
                <a:ea typeface="Patrick Hand" pitchFamily="34" charset="-122"/>
                <a:cs typeface="Arial" panose="020B0604020202020204" pitchFamily="34" charset="0"/>
              </a:rPr>
              <a:t>Harmful software like viruses that infect devices to steal data or cause damage</a:t>
            </a:r>
            <a:endParaRPr lang="en-US" sz="1900" dirty="0">
              <a:latin typeface="Arial" panose="020B0604020202020204" pitchFamily="34" charset="0"/>
              <a:cs typeface="Arial" panose="020B0604020202020204" pitchFamily="34" charset="0"/>
            </a:endParaRPr>
          </a:p>
        </p:txBody>
      </p:sp>
      <p:sp>
        <p:nvSpPr>
          <p:cNvPr id="15" name="Shape 13"/>
          <p:cNvSpPr/>
          <p:nvPr/>
        </p:nvSpPr>
        <p:spPr>
          <a:xfrm>
            <a:off x="9630132" y="2207895"/>
            <a:ext cx="4136231" cy="2536388"/>
          </a:xfrm>
          <a:prstGeom prst="roundRect">
            <a:avLst>
              <a:gd name="adj" fmla="val 5768"/>
            </a:avLst>
          </a:prstGeom>
          <a:solidFill>
            <a:srgbClr val="F7F7F7"/>
          </a:solidFill>
          <a:ln/>
        </p:spPr>
      </p:sp>
      <p:sp>
        <p:nvSpPr>
          <p:cNvPr id="18" name="Text 16"/>
          <p:cNvSpPr/>
          <p:nvPr/>
        </p:nvSpPr>
        <p:spPr>
          <a:xfrm>
            <a:off x="11550134" y="2022753"/>
            <a:ext cx="296228" cy="370284"/>
          </a:xfrm>
          <a:prstGeom prst="rect">
            <a:avLst/>
          </a:prstGeom>
          <a:noFill/>
          <a:ln/>
        </p:spPr>
        <p:txBody>
          <a:bodyPr wrap="none" lIns="0" tIns="0" rIns="0" bIns="0" rtlCol="0" anchor="t"/>
          <a:lstStyle/>
          <a:p>
            <a:pPr marL="0" indent="0" algn="l">
              <a:lnSpc>
                <a:spcPts val="3700"/>
              </a:lnSpc>
              <a:buNone/>
            </a:pPr>
            <a:endParaRPr lang="en-US" sz="2300" dirty="0"/>
          </a:p>
        </p:txBody>
      </p:sp>
      <p:sp>
        <p:nvSpPr>
          <p:cNvPr id="19" name="Text 17"/>
          <p:cNvSpPr/>
          <p:nvPr/>
        </p:nvSpPr>
        <p:spPr>
          <a:xfrm>
            <a:off x="9907429" y="2825115"/>
            <a:ext cx="2468880" cy="308610"/>
          </a:xfrm>
          <a:prstGeom prst="rect">
            <a:avLst/>
          </a:prstGeom>
          <a:noFill/>
          <a:ln/>
        </p:spPr>
        <p:txBody>
          <a:bodyPr wrap="none" lIns="0" tIns="0" rIns="0" bIns="0" rtlCol="0" anchor="t"/>
          <a:lstStyle/>
          <a:p>
            <a:pPr marL="0" indent="0" algn="l">
              <a:lnSpc>
                <a:spcPts val="2400"/>
              </a:lnSpc>
              <a:buNone/>
            </a:pPr>
            <a:r>
              <a:rPr lang="en-US" sz="2800" b="1" dirty="0">
                <a:solidFill>
                  <a:srgbClr val="383838"/>
                </a:solidFill>
                <a:latin typeface="Arial" panose="020B0604020202020204" pitchFamily="34" charset="0"/>
                <a:ea typeface="Patrick Hand" pitchFamily="34" charset="-122"/>
                <a:cs typeface="Arial" panose="020B0604020202020204" pitchFamily="34" charset="0"/>
              </a:rPr>
              <a:t>Ransomware</a:t>
            </a:r>
            <a:endParaRPr lang="en-US" sz="2800" b="1" dirty="0">
              <a:latin typeface="Arial" panose="020B0604020202020204" pitchFamily="34" charset="0"/>
              <a:cs typeface="Arial" panose="020B0604020202020204" pitchFamily="34" charset="0"/>
            </a:endParaRPr>
          </a:p>
        </p:txBody>
      </p:sp>
      <p:sp>
        <p:nvSpPr>
          <p:cNvPr id="20" name="Text 18"/>
          <p:cNvSpPr/>
          <p:nvPr/>
        </p:nvSpPr>
        <p:spPr>
          <a:xfrm>
            <a:off x="9907429" y="3281839"/>
            <a:ext cx="3581638" cy="790099"/>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Arial" panose="020B0604020202020204" pitchFamily="34" charset="0"/>
                <a:ea typeface="Patrick Hand" pitchFamily="34" charset="-122"/>
                <a:cs typeface="Arial" panose="020B0604020202020204" pitchFamily="34" charset="0"/>
              </a:rPr>
              <a:t>Malicious programs that lock your files and demand payment to release them</a:t>
            </a:r>
            <a:endParaRPr lang="en-US" sz="1900" dirty="0">
              <a:latin typeface="Arial" panose="020B0604020202020204" pitchFamily="34" charset="0"/>
              <a:cs typeface="Arial" panose="020B0604020202020204" pitchFamily="34" charset="0"/>
            </a:endParaRPr>
          </a:p>
        </p:txBody>
      </p:sp>
      <p:sp>
        <p:nvSpPr>
          <p:cNvPr id="21" name="Shape 19"/>
          <p:cNvSpPr/>
          <p:nvPr/>
        </p:nvSpPr>
        <p:spPr>
          <a:xfrm>
            <a:off x="864037" y="5361384"/>
            <a:ext cx="6327696" cy="2141339"/>
          </a:xfrm>
          <a:prstGeom prst="roundRect">
            <a:avLst>
              <a:gd name="adj" fmla="val 6832"/>
            </a:avLst>
          </a:prstGeom>
          <a:solidFill>
            <a:srgbClr val="F7F7F7"/>
          </a:solidFill>
          <a:ln/>
        </p:spPr>
      </p:sp>
      <p:sp>
        <p:nvSpPr>
          <p:cNvPr id="24" name="Text 22"/>
          <p:cNvSpPr/>
          <p:nvPr/>
        </p:nvSpPr>
        <p:spPr>
          <a:xfrm>
            <a:off x="3879771" y="5176242"/>
            <a:ext cx="296228" cy="370284"/>
          </a:xfrm>
          <a:prstGeom prst="rect">
            <a:avLst/>
          </a:prstGeom>
          <a:noFill/>
          <a:ln/>
        </p:spPr>
        <p:txBody>
          <a:bodyPr wrap="none" lIns="0" tIns="0" rIns="0" bIns="0" rtlCol="0" anchor="t"/>
          <a:lstStyle/>
          <a:p>
            <a:pPr marL="0" indent="0" algn="l">
              <a:lnSpc>
                <a:spcPts val="3700"/>
              </a:lnSpc>
              <a:buNone/>
            </a:pPr>
            <a:endParaRPr lang="en-US" sz="2300" dirty="0"/>
          </a:p>
        </p:txBody>
      </p:sp>
      <p:sp>
        <p:nvSpPr>
          <p:cNvPr id="25" name="Text 23"/>
          <p:cNvSpPr/>
          <p:nvPr/>
        </p:nvSpPr>
        <p:spPr>
          <a:xfrm>
            <a:off x="1141333" y="5978604"/>
            <a:ext cx="2468880" cy="308610"/>
          </a:xfrm>
          <a:prstGeom prst="rect">
            <a:avLst/>
          </a:prstGeom>
          <a:noFill/>
          <a:ln/>
        </p:spPr>
        <p:txBody>
          <a:bodyPr wrap="none" lIns="0" tIns="0" rIns="0" bIns="0" rtlCol="0" anchor="t"/>
          <a:lstStyle/>
          <a:p>
            <a:pPr marL="0" indent="0" algn="l">
              <a:lnSpc>
                <a:spcPts val="2400"/>
              </a:lnSpc>
              <a:buNone/>
            </a:pPr>
            <a:r>
              <a:rPr lang="en-US" sz="2800" b="1" dirty="0">
                <a:solidFill>
                  <a:srgbClr val="383838"/>
                </a:solidFill>
                <a:latin typeface="Arial" panose="020B0604020202020204" pitchFamily="34" charset="0"/>
                <a:ea typeface="Patrick Hand" pitchFamily="34" charset="-122"/>
                <a:cs typeface="Arial" panose="020B0604020202020204" pitchFamily="34" charset="0"/>
              </a:rPr>
              <a:t>Password Attacks</a:t>
            </a:r>
            <a:endParaRPr lang="en-US" sz="2800" b="1" dirty="0">
              <a:latin typeface="Arial" panose="020B0604020202020204" pitchFamily="34" charset="0"/>
              <a:cs typeface="Arial" panose="020B0604020202020204" pitchFamily="34" charset="0"/>
            </a:endParaRPr>
          </a:p>
        </p:txBody>
      </p:sp>
      <p:sp>
        <p:nvSpPr>
          <p:cNvPr id="26" name="Text 24"/>
          <p:cNvSpPr/>
          <p:nvPr/>
        </p:nvSpPr>
        <p:spPr>
          <a:xfrm>
            <a:off x="1141333" y="6435328"/>
            <a:ext cx="5773103" cy="790099"/>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Arial" panose="020B0604020202020204" pitchFamily="34" charset="0"/>
                <a:ea typeface="Patrick Hand" pitchFamily="34" charset="-122"/>
                <a:cs typeface="Arial" panose="020B0604020202020204" pitchFamily="34" charset="0"/>
              </a:rPr>
              <a:t>Attempts to guess or crack passwords to gain unauthorized access to accounts</a:t>
            </a:r>
            <a:endParaRPr lang="en-US" sz="1900" dirty="0">
              <a:latin typeface="Arial" panose="020B0604020202020204" pitchFamily="34" charset="0"/>
              <a:cs typeface="Arial" panose="020B0604020202020204" pitchFamily="34" charset="0"/>
            </a:endParaRPr>
          </a:p>
        </p:txBody>
      </p:sp>
      <p:sp>
        <p:nvSpPr>
          <p:cNvPr id="27" name="Shape 25"/>
          <p:cNvSpPr/>
          <p:nvPr/>
        </p:nvSpPr>
        <p:spPr>
          <a:xfrm>
            <a:off x="7438549" y="5361384"/>
            <a:ext cx="6327815" cy="2141339"/>
          </a:xfrm>
          <a:prstGeom prst="roundRect">
            <a:avLst>
              <a:gd name="adj" fmla="val 6832"/>
            </a:avLst>
          </a:prstGeom>
          <a:solidFill>
            <a:srgbClr val="F7F7F7"/>
          </a:solidFill>
          <a:ln/>
        </p:spPr>
      </p:sp>
      <p:sp>
        <p:nvSpPr>
          <p:cNvPr id="30" name="Text 28"/>
          <p:cNvSpPr/>
          <p:nvPr/>
        </p:nvSpPr>
        <p:spPr>
          <a:xfrm>
            <a:off x="10454283" y="5176242"/>
            <a:ext cx="296228" cy="370284"/>
          </a:xfrm>
          <a:prstGeom prst="rect">
            <a:avLst/>
          </a:prstGeom>
          <a:noFill/>
          <a:ln/>
        </p:spPr>
        <p:txBody>
          <a:bodyPr wrap="none" lIns="0" tIns="0" rIns="0" bIns="0" rtlCol="0" anchor="t"/>
          <a:lstStyle/>
          <a:p>
            <a:pPr marL="0" indent="0" algn="l">
              <a:lnSpc>
                <a:spcPts val="3700"/>
              </a:lnSpc>
              <a:buNone/>
            </a:pPr>
            <a:endParaRPr lang="en-US" sz="2300" dirty="0"/>
          </a:p>
        </p:txBody>
      </p:sp>
      <p:sp>
        <p:nvSpPr>
          <p:cNvPr id="31" name="Text 29"/>
          <p:cNvSpPr/>
          <p:nvPr/>
        </p:nvSpPr>
        <p:spPr>
          <a:xfrm>
            <a:off x="7715845" y="5978604"/>
            <a:ext cx="2468880" cy="308610"/>
          </a:xfrm>
          <a:prstGeom prst="rect">
            <a:avLst/>
          </a:prstGeom>
          <a:noFill/>
          <a:ln/>
        </p:spPr>
        <p:txBody>
          <a:bodyPr wrap="none" lIns="0" tIns="0" rIns="0" bIns="0" rtlCol="0" anchor="t"/>
          <a:lstStyle/>
          <a:p>
            <a:pPr marL="0" indent="0" algn="l">
              <a:lnSpc>
                <a:spcPts val="2400"/>
              </a:lnSpc>
              <a:buNone/>
            </a:pPr>
            <a:r>
              <a:rPr lang="en-US" sz="2800" b="1" dirty="0">
                <a:solidFill>
                  <a:srgbClr val="383838"/>
                </a:solidFill>
                <a:latin typeface="Arial" panose="020B0604020202020204" pitchFamily="34" charset="0"/>
                <a:ea typeface="Patrick Hand" pitchFamily="34" charset="-122"/>
                <a:cs typeface="Arial" panose="020B0604020202020204" pitchFamily="34" charset="0"/>
              </a:rPr>
              <a:t>Identity Theft</a:t>
            </a:r>
            <a:endParaRPr lang="en-US" sz="2800" b="1" dirty="0">
              <a:latin typeface="Arial" panose="020B0604020202020204" pitchFamily="34" charset="0"/>
              <a:cs typeface="Arial" panose="020B0604020202020204" pitchFamily="34" charset="0"/>
            </a:endParaRPr>
          </a:p>
        </p:txBody>
      </p:sp>
      <p:sp>
        <p:nvSpPr>
          <p:cNvPr id="32" name="Text 30"/>
          <p:cNvSpPr/>
          <p:nvPr/>
        </p:nvSpPr>
        <p:spPr>
          <a:xfrm>
            <a:off x="7715845" y="6435328"/>
            <a:ext cx="5773222" cy="790099"/>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Arial" panose="020B0604020202020204" pitchFamily="34" charset="0"/>
                <a:ea typeface="Patrick Hand" pitchFamily="34" charset="-122"/>
                <a:cs typeface="Arial" panose="020B0604020202020204" pitchFamily="34" charset="0"/>
              </a:rPr>
              <a:t>Stealing personal information to impersonate someone for financial gain</a:t>
            </a:r>
            <a:endParaRPr lang="en-US" sz="1900" dirty="0">
              <a:latin typeface="Arial" panose="020B060402020202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44589A0E-6FA7-A150-3B7E-FACAC7BF213F}"/>
              </a:ext>
            </a:extLst>
          </p:cNvPr>
          <p:cNvSpPr/>
          <p:nvPr/>
        </p:nvSpPr>
        <p:spPr>
          <a:xfrm>
            <a:off x="12778451" y="7652417"/>
            <a:ext cx="1979271" cy="598779"/>
          </a:xfrm>
          <a:prstGeom prst="rect">
            <a:avLst/>
          </a:prstGeom>
          <a:solidFill>
            <a:srgbClr val="F7F7F7"/>
          </a:solidFill>
          <a:ln>
            <a:solidFill>
              <a:srgbClr val="F7F7F7"/>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27246" y="838438"/>
            <a:ext cx="4727615" cy="590907"/>
          </a:xfrm>
          <a:prstGeom prst="rect">
            <a:avLst/>
          </a:prstGeom>
          <a:noFill/>
          <a:ln/>
        </p:spPr>
        <p:txBody>
          <a:bodyPr wrap="none" lIns="0" tIns="0" rIns="0" bIns="0" rtlCol="0" anchor="t"/>
          <a:lstStyle/>
          <a:p>
            <a:pPr marL="0" indent="0" algn="l">
              <a:lnSpc>
                <a:spcPts val="4650"/>
              </a:lnSpc>
              <a:buNone/>
            </a:pPr>
            <a:r>
              <a:rPr lang="en-US" sz="4400" b="1" dirty="0">
                <a:solidFill>
                  <a:srgbClr val="383838"/>
                </a:solidFill>
                <a:latin typeface="Arial" panose="020B0604020202020204" pitchFamily="34" charset="0"/>
                <a:ea typeface="Patrick Hand" pitchFamily="34" charset="-122"/>
                <a:cs typeface="Arial" panose="020B0604020202020204" pitchFamily="34" charset="0"/>
              </a:rPr>
              <a:t>How Cyber Attacks Happen</a:t>
            </a:r>
            <a:endParaRPr lang="en-US" sz="4400" b="1" dirty="0">
              <a:latin typeface="Arial" panose="020B0604020202020204" pitchFamily="34" charset="0"/>
              <a:cs typeface="Arial" panose="020B0604020202020204" pitchFamily="34" charset="0"/>
            </a:endParaRPr>
          </a:p>
        </p:txBody>
      </p:sp>
      <p:sp>
        <p:nvSpPr>
          <p:cNvPr id="4" name="Text 1"/>
          <p:cNvSpPr/>
          <p:nvPr/>
        </p:nvSpPr>
        <p:spPr>
          <a:xfrm>
            <a:off x="1063585" y="3083838"/>
            <a:ext cx="2363748" cy="295394"/>
          </a:xfrm>
          <a:prstGeom prst="rect">
            <a:avLst/>
          </a:prstGeom>
          <a:noFill/>
          <a:ln/>
        </p:spPr>
        <p:txBody>
          <a:bodyPr wrap="none" lIns="0" tIns="0" rIns="0" bIns="0" rtlCol="0" anchor="t"/>
          <a:lstStyle/>
          <a:p>
            <a:pPr marL="0" indent="0" algn="l">
              <a:lnSpc>
                <a:spcPts val="2300"/>
              </a:lnSpc>
              <a:buNone/>
            </a:pPr>
            <a:r>
              <a:rPr lang="en-US" sz="1850" b="1" dirty="0">
                <a:solidFill>
                  <a:srgbClr val="383838"/>
                </a:solidFill>
                <a:latin typeface="Arial" panose="020B0604020202020204" pitchFamily="34" charset="0"/>
                <a:ea typeface="Patrick Hand" pitchFamily="34" charset="-122"/>
                <a:cs typeface="Arial" panose="020B0604020202020204" pitchFamily="34" charset="0"/>
              </a:rPr>
              <a:t>Target Selection</a:t>
            </a:r>
            <a:endParaRPr lang="en-US" sz="1850" b="1" dirty="0">
              <a:latin typeface="Arial" panose="020B0604020202020204" pitchFamily="34" charset="0"/>
              <a:cs typeface="Arial" panose="020B0604020202020204" pitchFamily="34" charset="0"/>
            </a:endParaRPr>
          </a:p>
        </p:txBody>
      </p:sp>
      <p:sp>
        <p:nvSpPr>
          <p:cNvPr id="5" name="Text 2"/>
          <p:cNvSpPr/>
          <p:nvPr/>
        </p:nvSpPr>
        <p:spPr>
          <a:xfrm>
            <a:off x="1063585" y="3521035"/>
            <a:ext cx="6015276" cy="378143"/>
          </a:xfrm>
          <a:prstGeom prst="rect">
            <a:avLst/>
          </a:prstGeom>
          <a:noFill/>
          <a:ln/>
        </p:spPr>
        <p:txBody>
          <a:bodyPr wrap="none" lIns="0" tIns="0" rIns="0" bIns="0" rtlCol="0" anchor="t"/>
          <a:lstStyle/>
          <a:p>
            <a:pPr marL="0" indent="0" algn="l">
              <a:lnSpc>
                <a:spcPts val="2950"/>
              </a:lnSpc>
              <a:buNone/>
            </a:pPr>
            <a:r>
              <a:rPr lang="en-US" sz="1850" dirty="0">
                <a:solidFill>
                  <a:srgbClr val="383838"/>
                </a:solidFill>
                <a:latin typeface="Arial" panose="020B0604020202020204" pitchFamily="34" charset="0"/>
                <a:ea typeface="Patrick Hand" pitchFamily="34" charset="-122"/>
                <a:cs typeface="Arial" panose="020B0604020202020204" pitchFamily="34" charset="0"/>
              </a:rPr>
              <a:t>Hackers identify vulnerable systems or users to attack</a:t>
            </a:r>
            <a:endParaRPr lang="en-US" sz="1850" dirty="0">
              <a:latin typeface="Arial" panose="020B0604020202020204" pitchFamily="34" charset="0"/>
              <a:cs typeface="Arial" panose="020B0604020202020204" pitchFamily="34" charset="0"/>
            </a:endParaRPr>
          </a:p>
        </p:txBody>
      </p:sp>
      <p:sp>
        <p:nvSpPr>
          <p:cNvPr id="7" name="Text 3"/>
          <p:cNvSpPr/>
          <p:nvPr/>
        </p:nvSpPr>
        <p:spPr>
          <a:xfrm>
            <a:off x="7551539" y="3083838"/>
            <a:ext cx="2363748" cy="295394"/>
          </a:xfrm>
          <a:prstGeom prst="rect">
            <a:avLst/>
          </a:prstGeom>
          <a:noFill/>
          <a:ln/>
        </p:spPr>
        <p:txBody>
          <a:bodyPr wrap="none" lIns="0" tIns="0" rIns="0" bIns="0" rtlCol="0" anchor="t"/>
          <a:lstStyle/>
          <a:p>
            <a:pPr marL="0" indent="0" algn="l">
              <a:lnSpc>
                <a:spcPts val="2300"/>
              </a:lnSpc>
              <a:buNone/>
            </a:pPr>
            <a:r>
              <a:rPr lang="en-US" sz="1850" b="1" dirty="0">
                <a:solidFill>
                  <a:srgbClr val="383838"/>
                </a:solidFill>
                <a:latin typeface="Arial" panose="020B0604020202020204" pitchFamily="34" charset="0"/>
                <a:ea typeface="Patrick Hand" pitchFamily="34" charset="-122"/>
                <a:cs typeface="Arial" panose="020B0604020202020204" pitchFamily="34" charset="0"/>
              </a:rPr>
              <a:t>Exploitation</a:t>
            </a:r>
            <a:endParaRPr lang="en-US" sz="1850" b="1" dirty="0">
              <a:latin typeface="Arial" panose="020B0604020202020204" pitchFamily="34" charset="0"/>
              <a:cs typeface="Arial" panose="020B0604020202020204" pitchFamily="34" charset="0"/>
            </a:endParaRPr>
          </a:p>
        </p:txBody>
      </p:sp>
      <p:sp>
        <p:nvSpPr>
          <p:cNvPr id="8" name="Text 4"/>
          <p:cNvSpPr/>
          <p:nvPr/>
        </p:nvSpPr>
        <p:spPr>
          <a:xfrm>
            <a:off x="7551539" y="3521035"/>
            <a:ext cx="6015276" cy="378143"/>
          </a:xfrm>
          <a:prstGeom prst="rect">
            <a:avLst/>
          </a:prstGeom>
          <a:noFill/>
          <a:ln/>
        </p:spPr>
        <p:txBody>
          <a:bodyPr wrap="none" lIns="0" tIns="0" rIns="0" bIns="0" rtlCol="0" anchor="t"/>
          <a:lstStyle/>
          <a:p>
            <a:pPr marL="0" indent="0" algn="l">
              <a:lnSpc>
                <a:spcPts val="2950"/>
              </a:lnSpc>
              <a:buNone/>
            </a:pPr>
            <a:r>
              <a:rPr lang="en-US" sz="1850" dirty="0">
                <a:solidFill>
                  <a:srgbClr val="383838"/>
                </a:solidFill>
                <a:latin typeface="Arial" panose="020B0604020202020204" pitchFamily="34" charset="0"/>
                <a:ea typeface="Patrick Hand" pitchFamily="34" charset="-122"/>
                <a:cs typeface="Arial" panose="020B0604020202020204" pitchFamily="34" charset="0"/>
              </a:rPr>
              <a:t>They find and exploit weaknesses in software or human behavior</a:t>
            </a:r>
            <a:endParaRPr lang="en-US" sz="1850" dirty="0">
              <a:latin typeface="Arial" panose="020B0604020202020204" pitchFamily="34" charset="0"/>
              <a:cs typeface="Arial" panose="020B0604020202020204" pitchFamily="34" charset="0"/>
            </a:endParaRPr>
          </a:p>
        </p:txBody>
      </p:sp>
      <p:sp>
        <p:nvSpPr>
          <p:cNvPr id="10" name="Text 5"/>
          <p:cNvSpPr/>
          <p:nvPr/>
        </p:nvSpPr>
        <p:spPr>
          <a:xfrm>
            <a:off x="1063585" y="5317331"/>
            <a:ext cx="2363748" cy="295394"/>
          </a:xfrm>
          <a:prstGeom prst="rect">
            <a:avLst/>
          </a:prstGeom>
          <a:noFill/>
          <a:ln/>
        </p:spPr>
        <p:txBody>
          <a:bodyPr wrap="none" lIns="0" tIns="0" rIns="0" bIns="0" rtlCol="0" anchor="t"/>
          <a:lstStyle/>
          <a:p>
            <a:pPr marL="0" indent="0" algn="l">
              <a:lnSpc>
                <a:spcPts val="2300"/>
              </a:lnSpc>
              <a:buNone/>
            </a:pPr>
            <a:r>
              <a:rPr lang="en-US" sz="1850" b="1" dirty="0">
                <a:solidFill>
                  <a:srgbClr val="383838"/>
                </a:solidFill>
                <a:latin typeface="Arial" panose="020B0604020202020204" pitchFamily="34" charset="0"/>
                <a:ea typeface="Patrick Hand" pitchFamily="34" charset="-122"/>
                <a:cs typeface="Arial" panose="020B0604020202020204" pitchFamily="34" charset="0"/>
              </a:rPr>
              <a:t>Access Gained</a:t>
            </a:r>
            <a:endParaRPr lang="en-US" sz="1850" b="1" dirty="0">
              <a:latin typeface="Arial" panose="020B0604020202020204" pitchFamily="34" charset="0"/>
              <a:cs typeface="Arial" panose="020B0604020202020204" pitchFamily="34" charset="0"/>
            </a:endParaRPr>
          </a:p>
        </p:txBody>
      </p:sp>
      <p:sp>
        <p:nvSpPr>
          <p:cNvPr id="11" name="Text 6"/>
          <p:cNvSpPr/>
          <p:nvPr/>
        </p:nvSpPr>
        <p:spPr>
          <a:xfrm>
            <a:off x="1063585" y="5754529"/>
            <a:ext cx="6015276" cy="378143"/>
          </a:xfrm>
          <a:prstGeom prst="rect">
            <a:avLst/>
          </a:prstGeom>
          <a:noFill/>
          <a:ln/>
        </p:spPr>
        <p:txBody>
          <a:bodyPr wrap="none" lIns="0" tIns="0" rIns="0" bIns="0" rtlCol="0" anchor="t"/>
          <a:lstStyle/>
          <a:p>
            <a:pPr marL="0" indent="0" algn="l">
              <a:lnSpc>
                <a:spcPts val="2950"/>
              </a:lnSpc>
              <a:buNone/>
            </a:pPr>
            <a:r>
              <a:rPr lang="en-US" sz="1850" dirty="0">
                <a:solidFill>
                  <a:srgbClr val="383838"/>
                </a:solidFill>
                <a:latin typeface="Arial" panose="020B0604020202020204" pitchFamily="34" charset="0"/>
                <a:ea typeface="Patrick Hand" pitchFamily="34" charset="-122"/>
                <a:cs typeface="Arial" panose="020B0604020202020204" pitchFamily="34" charset="0"/>
              </a:rPr>
              <a:t>Attackers infiltrate systems through malware or stolen </a:t>
            </a:r>
          </a:p>
          <a:p>
            <a:pPr marL="0" indent="0" algn="l">
              <a:lnSpc>
                <a:spcPts val="2950"/>
              </a:lnSpc>
              <a:buNone/>
            </a:pPr>
            <a:r>
              <a:rPr lang="en-US" sz="1850" dirty="0">
                <a:solidFill>
                  <a:srgbClr val="383838"/>
                </a:solidFill>
                <a:latin typeface="Arial" panose="020B0604020202020204" pitchFamily="34" charset="0"/>
                <a:ea typeface="Patrick Hand" pitchFamily="34" charset="-122"/>
                <a:cs typeface="Arial" panose="020B0604020202020204" pitchFamily="34" charset="0"/>
              </a:rPr>
              <a:t>credentials</a:t>
            </a:r>
            <a:endParaRPr lang="en-US" sz="1850" dirty="0">
              <a:latin typeface="Arial" panose="020B0604020202020204" pitchFamily="34" charset="0"/>
              <a:cs typeface="Arial" panose="020B0604020202020204" pitchFamily="34" charset="0"/>
            </a:endParaRPr>
          </a:p>
        </p:txBody>
      </p:sp>
      <p:sp>
        <p:nvSpPr>
          <p:cNvPr id="13" name="Text 7"/>
          <p:cNvSpPr/>
          <p:nvPr/>
        </p:nvSpPr>
        <p:spPr>
          <a:xfrm>
            <a:off x="7551539" y="5317331"/>
            <a:ext cx="2363748" cy="295394"/>
          </a:xfrm>
          <a:prstGeom prst="rect">
            <a:avLst/>
          </a:prstGeom>
          <a:noFill/>
          <a:ln/>
        </p:spPr>
        <p:txBody>
          <a:bodyPr wrap="none" lIns="0" tIns="0" rIns="0" bIns="0" rtlCol="0" anchor="t"/>
          <a:lstStyle/>
          <a:p>
            <a:pPr marL="0" indent="0" algn="l">
              <a:lnSpc>
                <a:spcPts val="2300"/>
              </a:lnSpc>
              <a:buNone/>
            </a:pPr>
            <a:r>
              <a:rPr lang="en-US" sz="1850" b="1" dirty="0">
                <a:solidFill>
                  <a:srgbClr val="383838"/>
                </a:solidFill>
                <a:latin typeface="Arial" panose="020B0604020202020204" pitchFamily="34" charset="0"/>
                <a:ea typeface="Patrick Hand" pitchFamily="34" charset="-122"/>
                <a:cs typeface="Arial" panose="020B0604020202020204" pitchFamily="34" charset="0"/>
              </a:rPr>
              <a:t>Data Theft</a:t>
            </a:r>
            <a:endParaRPr lang="en-US" sz="1850" b="1" dirty="0">
              <a:latin typeface="Arial" panose="020B0604020202020204" pitchFamily="34" charset="0"/>
              <a:cs typeface="Arial" panose="020B0604020202020204" pitchFamily="34" charset="0"/>
            </a:endParaRPr>
          </a:p>
        </p:txBody>
      </p:sp>
      <p:sp>
        <p:nvSpPr>
          <p:cNvPr id="14" name="Text 8"/>
          <p:cNvSpPr/>
          <p:nvPr/>
        </p:nvSpPr>
        <p:spPr>
          <a:xfrm>
            <a:off x="7551539" y="5754529"/>
            <a:ext cx="6015276" cy="378143"/>
          </a:xfrm>
          <a:prstGeom prst="rect">
            <a:avLst/>
          </a:prstGeom>
          <a:noFill/>
          <a:ln/>
        </p:spPr>
        <p:txBody>
          <a:bodyPr wrap="none" lIns="0" tIns="0" rIns="0" bIns="0" rtlCol="0" anchor="t"/>
          <a:lstStyle/>
          <a:p>
            <a:pPr marL="0" indent="0" algn="l">
              <a:lnSpc>
                <a:spcPts val="2950"/>
              </a:lnSpc>
              <a:buNone/>
            </a:pPr>
            <a:r>
              <a:rPr lang="en-US" sz="1850" dirty="0">
                <a:solidFill>
                  <a:srgbClr val="383838"/>
                </a:solidFill>
                <a:latin typeface="Arial" panose="020B0604020202020204" pitchFamily="34" charset="0"/>
                <a:ea typeface="Patrick Hand" pitchFamily="34" charset="-122"/>
                <a:cs typeface="Arial" panose="020B0604020202020204" pitchFamily="34" charset="0"/>
              </a:rPr>
              <a:t>Sensitive information is stolen, encrypted, or destroyed</a:t>
            </a:r>
            <a:endParaRPr lang="en-US" sz="1850" dirty="0">
              <a:latin typeface="Arial" panose="020B0604020202020204" pitchFamily="34" charset="0"/>
              <a:cs typeface="Arial" panose="020B0604020202020204" pitchFamily="34" charset="0"/>
            </a:endParaRPr>
          </a:p>
        </p:txBody>
      </p:sp>
      <p:sp>
        <p:nvSpPr>
          <p:cNvPr id="15" name="Text 9"/>
          <p:cNvSpPr/>
          <p:nvPr/>
        </p:nvSpPr>
        <p:spPr>
          <a:xfrm>
            <a:off x="827246" y="6634877"/>
            <a:ext cx="12975908" cy="756285"/>
          </a:xfrm>
          <a:prstGeom prst="rect">
            <a:avLst/>
          </a:prstGeom>
          <a:noFill/>
          <a:ln/>
        </p:spPr>
        <p:txBody>
          <a:bodyPr wrap="square" lIns="0" tIns="0" rIns="0" bIns="0" rtlCol="0" anchor="t"/>
          <a:lstStyle/>
          <a:p>
            <a:pPr marL="0" indent="0" algn="l">
              <a:lnSpc>
                <a:spcPts val="2950"/>
              </a:lnSpc>
              <a:buNone/>
            </a:pPr>
            <a:endParaRPr lang="en-US" sz="185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35B4518E-BCCA-9B1B-5F80-31FDD2AA5950}"/>
              </a:ext>
            </a:extLst>
          </p:cNvPr>
          <p:cNvSpPr/>
          <p:nvPr/>
        </p:nvSpPr>
        <p:spPr>
          <a:xfrm>
            <a:off x="12778451" y="7652417"/>
            <a:ext cx="1979271" cy="598779"/>
          </a:xfrm>
          <a:prstGeom prst="rect">
            <a:avLst/>
          </a:prstGeom>
          <a:solidFill>
            <a:srgbClr val="F7F7F7"/>
          </a:solidFill>
          <a:ln>
            <a:solidFill>
              <a:srgbClr val="F7F7F7"/>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777240" y="610672"/>
            <a:ext cx="4667250" cy="555069"/>
          </a:xfrm>
          <a:prstGeom prst="rect">
            <a:avLst/>
          </a:prstGeom>
          <a:noFill/>
          <a:ln/>
        </p:spPr>
        <p:txBody>
          <a:bodyPr wrap="none" lIns="0" tIns="0" rIns="0" bIns="0" rtlCol="0" anchor="t"/>
          <a:lstStyle/>
          <a:p>
            <a:pPr marL="0" indent="0" algn="l">
              <a:lnSpc>
                <a:spcPts val="4350"/>
              </a:lnSpc>
              <a:buNone/>
            </a:pPr>
            <a:r>
              <a:rPr lang="en-US" sz="3450" b="1" dirty="0">
                <a:solidFill>
                  <a:srgbClr val="383838"/>
                </a:solidFill>
                <a:latin typeface="Arial" panose="020B0604020202020204" pitchFamily="34" charset="0"/>
                <a:ea typeface="Patrick Hand" pitchFamily="34" charset="-122"/>
                <a:cs typeface="Arial" panose="020B0604020202020204" pitchFamily="34" charset="0"/>
              </a:rPr>
              <a:t>Basic Cyber Safety Practices</a:t>
            </a:r>
            <a:endParaRPr lang="en-US" sz="3450" b="1" dirty="0">
              <a:latin typeface="Arial" panose="020B0604020202020204" pitchFamily="34" charset="0"/>
              <a:cs typeface="Arial" panose="020B0604020202020204" pitchFamily="34" charset="0"/>
            </a:endParaRPr>
          </a:p>
        </p:txBody>
      </p:sp>
      <p:sp>
        <p:nvSpPr>
          <p:cNvPr id="4" name="Shape 1"/>
          <p:cNvSpPr/>
          <p:nvPr/>
        </p:nvSpPr>
        <p:spPr>
          <a:xfrm>
            <a:off x="777240" y="1498759"/>
            <a:ext cx="499586" cy="499586"/>
          </a:xfrm>
          <a:prstGeom prst="roundRect">
            <a:avLst>
              <a:gd name="adj" fmla="val 18670"/>
            </a:avLst>
          </a:prstGeom>
          <a:solidFill>
            <a:srgbClr val="E6E6E6"/>
          </a:solidFill>
          <a:ln w="7620">
            <a:solidFill>
              <a:srgbClr val="CCCCCC"/>
            </a:solidFill>
            <a:prstDash val="solid"/>
          </a:ln>
        </p:spPr>
      </p:sp>
      <p:sp>
        <p:nvSpPr>
          <p:cNvPr id="5" name="Text 2"/>
          <p:cNvSpPr/>
          <p:nvPr/>
        </p:nvSpPr>
        <p:spPr>
          <a:xfrm>
            <a:off x="1498878" y="1575078"/>
            <a:ext cx="2412206" cy="277535"/>
          </a:xfrm>
          <a:prstGeom prst="rect">
            <a:avLst/>
          </a:prstGeom>
          <a:noFill/>
          <a:ln/>
        </p:spPr>
        <p:txBody>
          <a:bodyPr wrap="none" lIns="0" tIns="0" rIns="0" bIns="0" rtlCol="0" anchor="t"/>
          <a:lstStyle/>
          <a:p>
            <a:pPr marL="0" indent="0" algn="l">
              <a:lnSpc>
                <a:spcPts val="2150"/>
              </a:lnSpc>
              <a:buNone/>
            </a:pPr>
            <a:r>
              <a:rPr lang="en-US" sz="1700" b="1" dirty="0">
                <a:solidFill>
                  <a:srgbClr val="383838"/>
                </a:solidFill>
                <a:latin typeface="Arial" panose="020B0604020202020204" pitchFamily="34" charset="0"/>
                <a:ea typeface="Patrick Hand" pitchFamily="34" charset="-122"/>
                <a:cs typeface="Arial" panose="020B0604020202020204" pitchFamily="34" charset="0"/>
              </a:rPr>
              <a:t>Use Strong, Unique Passwords</a:t>
            </a:r>
            <a:endParaRPr lang="en-US" sz="1700" b="1" dirty="0">
              <a:latin typeface="Arial" panose="020B0604020202020204" pitchFamily="34" charset="0"/>
              <a:cs typeface="Arial" panose="020B0604020202020204" pitchFamily="34" charset="0"/>
            </a:endParaRPr>
          </a:p>
        </p:txBody>
      </p:sp>
      <p:sp>
        <p:nvSpPr>
          <p:cNvPr id="6" name="Text 3"/>
          <p:cNvSpPr/>
          <p:nvPr/>
        </p:nvSpPr>
        <p:spPr>
          <a:xfrm>
            <a:off x="1498878" y="1985843"/>
            <a:ext cx="6867882" cy="710565"/>
          </a:xfrm>
          <a:prstGeom prst="rect">
            <a:avLst/>
          </a:prstGeom>
          <a:noFill/>
          <a:ln/>
        </p:spPr>
        <p:txBody>
          <a:bodyPr wrap="square" lIns="0" tIns="0" rIns="0" bIns="0" rtlCol="0" anchor="t"/>
          <a:lstStyle/>
          <a:p>
            <a:pPr marL="0" indent="0" algn="l">
              <a:lnSpc>
                <a:spcPts val="2750"/>
              </a:lnSpc>
              <a:buNone/>
            </a:pPr>
            <a:r>
              <a:rPr lang="en-US" sz="1700" dirty="0">
                <a:solidFill>
                  <a:srgbClr val="383838"/>
                </a:solidFill>
                <a:latin typeface="Arial" panose="020B0604020202020204" pitchFamily="34" charset="0"/>
                <a:ea typeface="Patrick Hand" pitchFamily="34" charset="-122"/>
                <a:cs typeface="Arial" panose="020B0604020202020204" pitchFamily="34" charset="0"/>
              </a:rPr>
              <a:t>Create passwords with 12+ characters mixing letters, numbers, and symbols. Use different passwords for each account.</a:t>
            </a:r>
            <a:endParaRPr lang="en-US" sz="1700" dirty="0">
              <a:latin typeface="Arial" panose="020B0604020202020204" pitchFamily="34" charset="0"/>
              <a:cs typeface="Arial" panose="020B0604020202020204" pitchFamily="34" charset="0"/>
            </a:endParaRPr>
          </a:p>
        </p:txBody>
      </p:sp>
      <p:sp>
        <p:nvSpPr>
          <p:cNvPr id="7" name="Shape 4"/>
          <p:cNvSpPr/>
          <p:nvPr/>
        </p:nvSpPr>
        <p:spPr>
          <a:xfrm>
            <a:off x="777240" y="3140512"/>
            <a:ext cx="499586" cy="499586"/>
          </a:xfrm>
          <a:prstGeom prst="roundRect">
            <a:avLst>
              <a:gd name="adj" fmla="val 18670"/>
            </a:avLst>
          </a:prstGeom>
          <a:solidFill>
            <a:srgbClr val="E6E6E6"/>
          </a:solidFill>
          <a:ln w="7620">
            <a:solidFill>
              <a:srgbClr val="CCCCCC"/>
            </a:solidFill>
            <a:prstDash val="solid"/>
          </a:ln>
        </p:spPr>
      </p:sp>
      <p:sp>
        <p:nvSpPr>
          <p:cNvPr id="8" name="Text 5"/>
          <p:cNvSpPr/>
          <p:nvPr/>
        </p:nvSpPr>
        <p:spPr>
          <a:xfrm>
            <a:off x="1498878" y="3216831"/>
            <a:ext cx="2689860" cy="277535"/>
          </a:xfrm>
          <a:prstGeom prst="rect">
            <a:avLst/>
          </a:prstGeom>
          <a:noFill/>
          <a:ln/>
        </p:spPr>
        <p:txBody>
          <a:bodyPr wrap="none" lIns="0" tIns="0" rIns="0" bIns="0" rtlCol="0" anchor="t"/>
          <a:lstStyle/>
          <a:p>
            <a:pPr marL="0" indent="0" algn="l">
              <a:lnSpc>
                <a:spcPts val="2150"/>
              </a:lnSpc>
              <a:buNone/>
            </a:pPr>
            <a:r>
              <a:rPr lang="en-US" sz="1700" b="1" dirty="0">
                <a:solidFill>
                  <a:srgbClr val="383838"/>
                </a:solidFill>
                <a:latin typeface="Arial" panose="020B0604020202020204" pitchFamily="34" charset="0"/>
                <a:ea typeface="Patrick Hand" pitchFamily="34" charset="-122"/>
                <a:cs typeface="Arial" panose="020B0604020202020204" pitchFamily="34" charset="0"/>
              </a:rPr>
              <a:t>Enable Two-Factor Authentication</a:t>
            </a:r>
            <a:endParaRPr lang="en-US" sz="1700" b="1" dirty="0">
              <a:latin typeface="Arial" panose="020B0604020202020204" pitchFamily="34" charset="0"/>
              <a:cs typeface="Arial" panose="020B0604020202020204" pitchFamily="34" charset="0"/>
            </a:endParaRPr>
          </a:p>
        </p:txBody>
      </p:sp>
      <p:sp>
        <p:nvSpPr>
          <p:cNvPr id="9" name="Text 6"/>
          <p:cNvSpPr/>
          <p:nvPr/>
        </p:nvSpPr>
        <p:spPr>
          <a:xfrm>
            <a:off x="1498878" y="3627596"/>
            <a:ext cx="6867882" cy="710565"/>
          </a:xfrm>
          <a:prstGeom prst="rect">
            <a:avLst/>
          </a:prstGeom>
          <a:noFill/>
          <a:ln/>
        </p:spPr>
        <p:txBody>
          <a:bodyPr wrap="square" lIns="0" tIns="0" rIns="0" bIns="0" rtlCol="0" anchor="t"/>
          <a:lstStyle/>
          <a:p>
            <a:pPr marL="0" indent="0" algn="l">
              <a:lnSpc>
                <a:spcPts val="2750"/>
              </a:lnSpc>
              <a:buNone/>
            </a:pPr>
            <a:r>
              <a:rPr lang="en-US" sz="1700" dirty="0">
                <a:solidFill>
                  <a:srgbClr val="383838"/>
                </a:solidFill>
                <a:latin typeface="Arial" panose="020B0604020202020204" pitchFamily="34" charset="0"/>
                <a:ea typeface="Patrick Hand" pitchFamily="34" charset="-122"/>
                <a:cs typeface="Arial" panose="020B0604020202020204" pitchFamily="34" charset="0"/>
              </a:rPr>
              <a:t>Add an extra security layer by requiring a code from your phone in addition to your password.</a:t>
            </a:r>
            <a:endParaRPr lang="en-US" sz="1700" dirty="0">
              <a:latin typeface="Arial" panose="020B0604020202020204" pitchFamily="34" charset="0"/>
              <a:cs typeface="Arial" panose="020B0604020202020204" pitchFamily="34" charset="0"/>
            </a:endParaRPr>
          </a:p>
        </p:txBody>
      </p:sp>
      <p:sp>
        <p:nvSpPr>
          <p:cNvPr id="10" name="Shape 7"/>
          <p:cNvSpPr/>
          <p:nvPr/>
        </p:nvSpPr>
        <p:spPr>
          <a:xfrm>
            <a:off x="777240" y="4782264"/>
            <a:ext cx="499586" cy="499586"/>
          </a:xfrm>
          <a:prstGeom prst="roundRect">
            <a:avLst>
              <a:gd name="adj" fmla="val 18670"/>
            </a:avLst>
          </a:prstGeom>
          <a:solidFill>
            <a:srgbClr val="E6E6E6"/>
          </a:solidFill>
          <a:ln w="7620">
            <a:solidFill>
              <a:srgbClr val="CCCCCC"/>
            </a:solidFill>
            <a:prstDash val="solid"/>
          </a:ln>
        </p:spPr>
      </p:sp>
      <p:sp>
        <p:nvSpPr>
          <p:cNvPr id="11" name="Text 8"/>
          <p:cNvSpPr/>
          <p:nvPr/>
        </p:nvSpPr>
        <p:spPr>
          <a:xfrm>
            <a:off x="1498878" y="4858583"/>
            <a:ext cx="2220754" cy="277535"/>
          </a:xfrm>
          <a:prstGeom prst="rect">
            <a:avLst/>
          </a:prstGeom>
          <a:noFill/>
          <a:ln/>
        </p:spPr>
        <p:txBody>
          <a:bodyPr wrap="none" lIns="0" tIns="0" rIns="0" bIns="0" rtlCol="0" anchor="t"/>
          <a:lstStyle/>
          <a:p>
            <a:pPr marL="0" indent="0" algn="l">
              <a:lnSpc>
                <a:spcPts val="2150"/>
              </a:lnSpc>
              <a:buNone/>
            </a:pPr>
            <a:r>
              <a:rPr lang="en-US" sz="1700" b="1" dirty="0">
                <a:solidFill>
                  <a:srgbClr val="383838"/>
                </a:solidFill>
                <a:latin typeface="Arial" panose="020B0604020202020204" pitchFamily="34" charset="0"/>
                <a:ea typeface="Patrick Hand" pitchFamily="34" charset="-122"/>
                <a:cs typeface="Arial" panose="020B0604020202020204" pitchFamily="34" charset="0"/>
              </a:rPr>
              <a:t>Keep Software Updated</a:t>
            </a:r>
            <a:endParaRPr lang="en-US" sz="1700" b="1" dirty="0">
              <a:latin typeface="Arial" panose="020B0604020202020204" pitchFamily="34" charset="0"/>
              <a:cs typeface="Arial" panose="020B0604020202020204" pitchFamily="34" charset="0"/>
            </a:endParaRPr>
          </a:p>
        </p:txBody>
      </p:sp>
      <p:sp>
        <p:nvSpPr>
          <p:cNvPr id="12" name="Text 9"/>
          <p:cNvSpPr/>
          <p:nvPr/>
        </p:nvSpPr>
        <p:spPr>
          <a:xfrm>
            <a:off x="1498878" y="5269349"/>
            <a:ext cx="6867882" cy="710565"/>
          </a:xfrm>
          <a:prstGeom prst="rect">
            <a:avLst/>
          </a:prstGeom>
          <a:noFill/>
          <a:ln/>
        </p:spPr>
        <p:txBody>
          <a:bodyPr wrap="square" lIns="0" tIns="0" rIns="0" bIns="0" rtlCol="0" anchor="t"/>
          <a:lstStyle/>
          <a:p>
            <a:pPr marL="0" indent="0" algn="l">
              <a:lnSpc>
                <a:spcPts val="2750"/>
              </a:lnSpc>
              <a:buNone/>
            </a:pPr>
            <a:r>
              <a:rPr lang="en-US" sz="1700" dirty="0">
                <a:solidFill>
                  <a:srgbClr val="383838"/>
                </a:solidFill>
                <a:latin typeface="Arial" panose="020B0604020202020204" pitchFamily="34" charset="0"/>
                <a:ea typeface="Patrick Hand" pitchFamily="34" charset="-122"/>
                <a:cs typeface="Arial" panose="020B0604020202020204" pitchFamily="34" charset="0"/>
              </a:rPr>
              <a:t>Install security patches and updates immediately to fix vulnerabilities hackers could exploit.</a:t>
            </a:r>
            <a:endParaRPr lang="en-US" sz="1700" dirty="0">
              <a:latin typeface="Arial" panose="020B0604020202020204" pitchFamily="34" charset="0"/>
              <a:cs typeface="Arial" panose="020B0604020202020204" pitchFamily="34" charset="0"/>
            </a:endParaRPr>
          </a:p>
        </p:txBody>
      </p:sp>
      <p:sp>
        <p:nvSpPr>
          <p:cNvPr id="13" name="Shape 10"/>
          <p:cNvSpPr/>
          <p:nvPr/>
        </p:nvSpPr>
        <p:spPr>
          <a:xfrm>
            <a:off x="777240" y="6424017"/>
            <a:ext cx="499586" cy="499586"/>
          </a:xfrm>
          <a:prstGeom prst="roundRect">
            <a:avLst>
              <a:gd name="adj" fmla="val 18670"/>
            </a:avLst>
          </a:prstGeom>
          <a:solidFill>
            <a:srgbClr val="E6E6E6"/>
          </a:solidFill>
          <a:ln w="7620">
            <a:solidFill>
              <a:srgbClr val="CCCCCC"/>
            </a:solidFill>
            <a:prstDash val="solid"/>
          </a:ln>
        </p:spPr>
      </p:sp>
      <p:sp>
        <p:nvSpPr>
          <p:cNvPr id="14" name="Text 11"/>
          <p:cNvSpPr/>
          <p:nvPr/>
        </p:nvSpPr>
        <p:spPr>
          <a:xfrm>
            <a:off x="1498878" y="6500336"/>
            <a:ext cx="2220754" cy="277535"/>
          </a:xfrm>
          <a:prstGeom prst="rect">
            <a:avLst/>
          </a:prstGeom>
          <a:noFill/>
          <a:ln/>
        </p:spPr>
        <p:txBody>
          <a:bodyPr wrap="none" lIns="0" tIns="0" rIns="0" bIns="0" rtlCol="0" anchor="t"/>
          <a:lstStyle/>
          <a:p>
            <a:pPr marL="0" indent="0" algn="l">
              <a:lnSpc>
                <a:spcPts val="2150"/>
              </a:lnSpc>
              <a:buNone/>
            </a:pPr>
            <a:r>
              <a:rPr lang="en-US" sz="1700" b="1" dirty="0">
                <a:solidFill>
                  <a:srgbClr val="383838"/>
                </a:solidFill>
                <a:latin typeface="Arial" panose="020B0604020202020204" pitchFamily="34" charset="0"/>
                <a:ea typeface="Patrick Hand" pitchFamily="34" charset="-122"/>
                <a:cs typeface="Arial" panose="020B0604020202020204" pitchFamily="34" charset="0"/>
              </a:rPr>
              <a:t>Think Before You Click</a:t>
            </a:r>
            <a:endParaRPr lang="en-US" sz="1700" b="1" dirty="0">
              <a:latin typeface="Arial" panose="020B0604020202020204" pitchFamily="34" charset="0"/>
              <a:cs typeface="Arial" panose="020B0604020202020204" pitchFamily="34" charset="0"/>
            </a:endParaRPr>
          </a:p>
        </p:txBody>
      </p:sp>
      <p:sp>
        <p:nvSpPr>
          <p:cNvPr id="15" name="Text 12"/>
          <p:cNvSpPr/>
          <p:nvPr/>
        </p:nvSpPr>
        <p:spPr>
          <a:xfrm>
            <a:off x="1498878" y="6911102"/>
            <a:ext cx="6867882" cy="710565"/>
          </a:xfrm>
          <a:prstGeom prst="rect">
            <a:avLst/>
          </a:prstGeom>
          <a:noFill/>
          <a:ln/>
        </p:spPr>
        <p:txBody>
          <a:bodyPr wrap="square" lIns="0" tIns="0" rIns="0" bIns="0" rtlCol="0" anchor="t"/>
          <a:lstStyle/>
          <a:p>
            <a:pPr marL="0" indent="0" algn="l">
              <a:lnSpc>
                <a:spcPts val="2750"/>
              </a:lnSpc>
              <a:buNone/>
            </a:pPr>
            <a:r>
              <a:rPr lang="en-US" sz="1700" dirty="0">
                <a:solidFill>
                  <a:srgbClr val="383838"/>
                </a:solidFill>
                <a:latin typeface="Arial" panose="020B0604020202020204" pitchFamily="34" charset="0"/>
                <a:ea typeface="Patrick Hand" pitchFamily="34" charset="-122"/>
                <a:cs typeface="Arial" panose="020B0604020202020204" pitchFamily="34" charset="0"/>
              </a:rPr>
              <a:t>Verify sender authenticity before clicking links or downloading attachments, especially in unexpected emails.</a:t>
            </a:r>
            <a:endParaRPr lang="en-US" sz="1700" dirty="0">
              <a:latin typeface="Arial" panose="020B0604020202020204" pitchFamily="34" charset="0"/>
              <a:cs typeface="Arial" panose="020B0604020202020204" pitchFamily="34" charset="0"/>
            </a:endParaRPr>
          </a:p>
        </p:txBody>
      </p:sp>
      <p:pic>
        <p:nvPicPr>
          <p:cNvPr id="2050" name="Picture 2" descr="SMBs: 10 Cyber Security Tips That Make You a Tougher Target in 2020 -  InfoSec Insights">
            <a:extLst>
              <a:ext uri="{FF2B5EF4-FFF2-40B4-BE49-F238E27FC236}">
                <a16:creationId xmlns:a16="http://schemas.microsoft.com/office/drawing/2014/main" id="{44812896-6F0F-69DA-72DA-DB2A95234E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6760" y="1059365"/>
            <a:ext cx="5900527" cy="5718505"/>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E006D452-DCF4-ABA7-EDA4-C5ACDE57EDD9}"/>
              </a:ext>
            </a:extLst>
          </p:cNvPr>
          <p:cNvSpPr/>
          <p:nvPr/>
        </p:nvSpPr>
        <p:spPr>
          <a:xfrm>
            <a:off x="12778451" y="7652417"/>
            <a:ext cx="1979271" cy="598779"/>
          </a:xfrm>
          <a:prstGeom prst="rect">
            <a:avLst/>
          </a:prstGeom>
          <a:solidFill>
            <a:srgbClr val="F7F7F7"/>
          </a:solidFill>
          <a:ln>
            <a:solidFill>
              <a:srgbClr val="F7F7F7"/>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4037" y="2386608"/>
            <a:ext cx="4937760" cy="617101"/>
          </a:xfrm>
          <a:prstGeom prst="rect">
            <a:avLst/>
          </a:prstGeom>
          <a:noFill/>
          <a:ln/>
        </p:spPr>
        <p:txBody>
          <a:bodyPr wrap="none" lIns="0" tIns="0" rIns="0" bIns="0" rtlCol="0" anchor="t"/>
          <a:lstStyle/>
          <a:p>
            <a:pPr marL="0" indent="0" algn="l">
              <a:lnSpc>
                <a:spcPts val="4850"/>
              </a:lnSpc>
              <a:buNone/>
            </a:pPr>
            <a:r>
              <a:rPr lang="en-US" sz="3850" b="1" dirty="0">
                <a:solidFill>
                  <a:srgbClr val="383838"/>
                </a:solidFill>
                <a:latin typeface="Arial" panose="020B0604020202020204" pitchFamily="34" charset="0"/>
                <a:ea typeface="Patrick Hand" pitchFamily="34" charset="-122"/>
                <a:cs typeface="Arial" panose="020B0604020202020204" pitchFamily="34" charset="0"/>
              </a:rPr>
              <a:t>Cyber Security in Daily Life</a:t>
            </a:r>
            <a:endParaRPr lang="en-US" sz="3850" b="1" dirty="0">
              <a:latin typeface="Arial" panose="020B0604020202020204" pitchFamily="34" charset="0"/>
              <a:cs typeface="Arial" panose="020B0604020202020204" pitchFamily="34" charset="0"/>
            </a:endParaRPr>
          </a:p>
        </p:txBody>
      </p:sp>
      <p:sp>
        <p:nvSpPr>
          <p:cNvPr id="3" name="Text 1"/>
          <p:cNvSpPr/>
          <p:nvPr/>
        </p:nvSpPr>
        <p:spPr>
          <a:xfrm>
            <a:off x="864037" y="3806071"/>
            <a:ext cx="2468880" cy="308610"/>
          </a:xfrm>
          <a:prstGeom prst="rect">
            <a:avLst/>
          </a:prstGeom>
          <a:noFill/>
          <a:ln/>
        </p:spPr>
        <p:txBody>
          <a:bodyPr wrap="none" lIns="0" tIns="0" rIns="0" bIns="0" rtlCol="0" anchor="t"/>
          <a:lstStyle/>
          <a:p>
            <a:pPr marL="0" indent="0" algn="l">
              <a:lnSpc>
                <a:spcPts val="2400"/>
              </a:lnSpc>
              <a:buNone/>
            </a:pPr>
            <a:r>
              <a:rPr lang="en-US" sz="1900" b="1" dirty="0">
                <a:solidFill>
                  <a:srgbClr val="383838"/>
                </a:solidFill>
                <a:latin typeface="Arial" panose="020B0604020202020204" pitchFamily="34" charset="0"/>
                <a:ea typeface="Patrick Hand" pitchFamily="34" charset="-122"/>
                <a:cs typeface="Arial" panose="020B0604020202020204" pitchFamily="34" charset="0"/>
              </a:rPr>
              <a:t>Mobile Devices</a:t>
            </a:r>
            <a:endParaRPr lang="en-US" sz="1900" b="1" dirty="0">
              <a:latin typeface="Arial" panose="020B0604020202020204" pitchFamily="34" charset="0"/>
              <a:cs typeface="Arial" panose="020B0604020202020204" pitchFamily="34" charset="0"/>
            </a:endParaRPr>
          </a:p>
        </p:txBody>
      </p:sp>
      <p:sp>
        <p:nvSpPr>
          <p:cNvPr id="4" name="Text 2"/>
          <p:cNvSpPr/>
          <p:nvPr/>
        </p:nvSpPr>
        <p:spPr>
          <a:xfrm>
            <a:off x="864037" y="4262795"/>
            <a:ext cx="2994065" cy="1185148"/>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Arial" panose="020B0604020202020204" pitchFamily="34" charset="0"/>
                <a:ea typeface="Patrick Hand" pitchFamily="34" charset="-122"/>
                <a:cs typeface="Arial" panose="020B0604020202020204" pitchFamily="34" charset="0"/>
              </a:rPr>
              <a:t>Use screen locks, avoid public Wi-Fi for banking, and only download apps from official stores</a:t>
            </a:r>
            <a:endParaRPr lang="en-US" sz="1900" dirty="0">
              <a:latin typeface="Arial" panose="020B0604020202020204" pitchFamily="34" charset="0"/>
              <a:cs typeface="Arial" panose="020B0604020202020204" pitchFamily="34" charset="0"/>
            </a:endParaRPr>
          </a:p>
        </p:txBody>
      </p:sp>
      <p:sp>
        <p:nvSpPr>
          <p:cNvPr id="5" name="Text 3"/>
          <p:cNvSpPr/>
          <p:nvPr/>
        </p:nvSpPr>
        <p:spPr>
          <a:xfrm>
            <a:off x="4166711" y="3806071"/>
            <a:ext cx="2468880" cy="308610"/>
          </a:xfrm>
          <a:prstGeom prst="rect">
            <a:avLst/>
          </a:prstGeom>
          <a:noFill/>
          <a:ln/>
        </p:spPr>
        <p:txBody>
          <a:bodyPr wrap="none" lIns="0" tIns="0" rIns="0" bIns="0" rtlCol="0" anchor="t"/>
          <a:lstStyle/>
          <a:p>
            <a:pPr marL="0" indent="0" algn="l">
              <a:lnSpc>
                <a:spcPts val="2400"/>
              </a:lnSpc>
              <a:buNone/>
            </a:pPr>
            <a:r>
              <a:rPr lang="en-US" sz="1900" b="1" dirty="0">
                <a:solidFill>
                  <a:srgbClr val="383838"/>
                </a:solidFill>
                <a:latin typeface="Arial" panose="020B0604020202020204" pitchFamily="34" charset="0"/>
                <a:ea typeface="Patrick Hand" pitchFamily="34" charset="-122"/>
                <a:cs typeface="Arial" panose="020B0604020202020204" pitchFamily="34" charset="0"/>
              </a:rPr>
              <a:t>Social Media</a:t>
            </a:r>
            <a:endParaRPr lang="en-US" sz="1900" b="1" dirty="0">
              <a:latin typeface="Arial" panose="020B0604020202020204" pitchFamily="34" charset="0"/>
              <a:cs typeface="Arial" panose="020B0604020202020204" pitchFamily="34" charset="0"/>
            </a:endParaRPr>
          </a:p>
        </p:txBody>
      </p:sp>
      <p:sp>
        <p:nvSpPr>
          <p:cNvPr id="6" name="Text 4"/>
          <p:cNvSpPr/>
          <p:nvPr/>
        </p:nvSpPr>
        <p:spPr>
          <a:xfrm>
            <a:off x="4166711" y="4262795"/>
            <a:ext cx="2994184" cy="1185148"/>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Arial" panose="020B0604020202020204" pitchFamily="34" charset="0"/>
                <a:ea typeface="Patrick Hand" pitchFamily="34" charset="-122"/>
                <a:cs typeface="Arial" panose="020B0604020202020204" pitchFamily="34" charset="0"/>
              </a:rPr>
              <a:t>Review privacy settings regularly and be cautious about sharing personal details publicly</a:t>
            </a:r>
            <a:endParaRPr lang="en-US" sz="1900" dirty="0">
              <a:latin typeface="Arial" panose="020B0604020202020204" pitchFamily="34" charset="0"/>
              <a:cs typeface="Arial" panose="020B0604020202020204" pitchFamily="34" charset="0"/>
            </a:endParaRPr>
          </a:p>
        </p:txBody>
      </p:sp>
      <p:sp>
        <p:nvSpPr>
          <p:cNvPr id="7" name="Text 5"/>
          <p:cNvSpPr/>
          <p:nvPr/>
        </p:nvSpPr>
        <p:spPr>
          <a:xfrm>
            <a:off x="7469505" y="3806071"/>
            <a:ext cx="2468880" cy="308610"/>
          </a:xfrm>
          <a:prstGeom prst="rect">
            <a:avLst/>
          </a:prstGeom>
          <a:noFill/>
          <a:ln/>
        </p:spPr>
        <p:txBody>
          <a:bodyPr wrap="none" lIns="0" tIns="0" rIns="0" bIns="0" rtlCol="0" anchor="t"/>
          <a:lstStyle/>
          <a:p>
            <a:pPr marL="0" indent="0" algn="l">
              <a:lnSpc>
                <a:spcPts val="2400"/>
              </a:lnSpc>
              <a:buNone/>
            </a:pPr>
            <a:r>
              <a:rPr lang="en-US" sz="1900" b="1" dirty="0">
                <a:solidFill>
                  <a:srgbClr val="383838"/>
                </a:solidFill>
                <a:latin typeface="Arial" panose="020B0604020202020204" pitchFamily="34" charset="0"/>
                <a:ea typeface="Patrick Hand" pitchFamily="34" charset="-122"/>
                <a:cs typeface="Arial" panose="020B0604020202020204" pitchFamily="34" charset="0"/>
              </a:rPr>
              <a:t>Online Shopping</a:t>
            </a:r>
            <a:endParaRPr lang="en-US" sz="1900" b="1" dirty="0">
              <a:latin typeface="Arial" panose="020B0604020202020204" pitchFamily="34" charset="0"/>
              <a:cs typeface="Arial" panose="020B0604020202020204" pitchFamily="34" charset="0"/>
            </a:endParaRPr>
          </a:p>
        </p:txBody>
      </p:sp>
      <p:sp>
        <p:nvSpPr>
          <p:cNvPr id="8" name="Text 6"/>
          <p:cNvSpPr/>
          <p:nvPr/>
        </p:nvSpPr>
        <p:spPr>
          <a:xfrm>
            <a:off x="7469505" y="4262795"/>
            <a:ext cx="2994065" cy="1580198"/>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Arial" panose="020B0604020202020204" pitchFamily="34" charset="0"/>
                <a:ea typeface="Patrick Hand" pitchFamily="34" charset="-122"/>
                <a:cs typeface="Arial" panose="020B0604020202020204" pitchFamily="34" charset="0"/>
              </a:rPr>
              <a:t>Shop only on secure websites (look for HTTPS), and monitor bank statements for suspicious activity</a:t>
            </a:r>
            <a:endParaRPr lang="en-US" sz="1900" dirty="0">
              <a:latin typeface="Arial" panose="020B0604020202020204" pitchFamily="34" charset="0"/>
              <a:cs typeface="Arial" panose="020B0604020202020204" pitchFamily="34" charset="0"/>
            </a:endParaRPr>
          </a:p>
        </p:txBody>
      </p:sp>
      <p:sp>
        <p:nvSpPr>
          <p:cNvPr id="9" name="Text 7"/>
          <p:cNvSpPr/>
          <p:nvPr/>
        </p:nvSpPr>
        <p:spPr>
          <a:xfrm>
            <a:off x="10772180" y="3806071"/>
            <a:ext cx="2468880" cy="308610"/>
          </a:xfrm>
          <a:prstGeom prst="rect">
            <a:avLst/>
          </a:prstGeom>
          <a:noFill/>
          <a:ln/>
        </p:spPr>
        <p:txBody>
          <a:bodyPr wrap="none" lIns="0" tIns="0" rIns="0" bIns="0" rtlCol="0" anchor="t"/>
          <a:lstStyle/>
          <a:p>
            <a:pPr marL="0" indent="0" algn="l">
              <a:lnSpc>
                <a:spcPts val="2400"/>
              </a:lnSpc>
              <a:buNone/>
            </a:pPr>
            <a:r>
              <a:rPr lang="en-US" sz="1900" b="1" dirty="0">
                <a:solidFill>
                  <a:srgbClr val="383838"/>
                </a:solidFill>
                <a:latin typeface="Arial" panose="020B0604020202020204" pitchFamily="34" charset="0"/>
                <a:ea typeface="Patrick Hand" pitchFamily="34" charset="-122"/>
                <a:cs typeface="Arial" panose="020B0604020202020204" pitchFamily="34" charset="0"/>
              </a:rPr>
              <a:t>Home Networks</a:t>
            </a:r>
            <a:endParaRPr lang="en-US" sz="1900" b="1" dirty="0">
              <a:latin typeface="Arial" panose="020B0604020202020204" pitchFamily="34" charset="0"/>
              <a:cs typeface="Arial" panose="020B0604020202020204" pitchFamily="34" charset="0"/>
            </a:endParaRPr>
          </a:p>
        </p:txBody>
      </p:sp>
      <p:sp>
        <p:nvSpPr>
          <p:cNvPr id="10" name="Text 8"/>
          <p:cNvSpPr/>
          <p:nvPr/>
        </p:nvSpPr>
        <p:spPr>
          <a:xfrm>
            <a:off x="10772180" y="4262795"/>
            <a:ext cx="2994184" cy="1185148"/>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Arial" panose="020B0604020202020204" pitchFamily="34" charset="0"/>
                <a:ea typeface="Patrick Hand" pitchFamily="34" charset="-122"/>
                <a:cs typeface="Arial" panose="020B0604020202020204" pitchFamily="34" charset="0"/>
              </a:rPr>
              <a:t>Change default router passwords and use strong Wi-Fi encryption to protect your connection</a:t>
            </a:r>
            <a:endParaRPr lang="en-US" sz="19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1E28CEB5-6DAC-2571-51A2-2297D8DC6238}"/>
              </a:ext>
            </a:extLst>
          </p:cNvPr>
          <p:cNvSpPr/>
          <p:nvPr/>
        </p:nvSpPr>
        <p:spPr>
          <a:xfrm>
            <a:off x="12778451" y="7652417"/>
            <a:ext cx="1979271" cy="598779"/>
          </a:xfrm>
          <a:prstGeom prst="rect">
            <a:avLst/>
          </a:prstGeom>
          <a:solidFill>
            <a:srgbClr val="F7F7F7"/>
          </a:solidFill>
          <a:ln>
            <a:solidFill>
              <a:srgbClr val="F7F7F7"/>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697468" y="708303"/>
            <a:ext cx="4167188" cy="498277"/>
          </a:xfrm>
          <a:prstGeom prst="rect">
            <a:avLst/>
          </a:prstGeom>
          <a:noFill/>
          <a:ln/>
        </p:spPr>
        <p:txBody>
          <a:bodyPr wrap="none" lIns="0" tIns="0" rIns="0" bIns="0" rtlCol="0" anchor="t"/>
          <a:lstStyle/>
          <a:p>
            <a:pPr marL="0" indent="0" algn="l">
              <a:lnSpc>
                <a:spcPts val="3900"/>
              </a:lnSpc>
              <a:buNone/>
            </a:pPr>
            <a:r>
              <a:rPr lang="en-US" sz="3100" b="1" dirty="0">
                <a:solidFill>
                  <a:srgbClr val="383838"/>
                </a:solidFill>
                <a:latin typeface="Arial" panose="020B0604020202020204" pitchFamily="34" charset="0"/>
                <a:ea typeface="Patrick Hand" pitchFamily="34" charset="-122"/>
                <a:cs typeface="Arial" panose="020B0604020202020204" pitchFamily="34" charset="0"/>
              </a:rPr>
              <a:t>The Future of Cyber Security</a:t>
            </a:r>
            <a:endParaRPr lang="en-US" sz="3100" b="1" dirty="0">
              <a:latin typeface="Arial" panose="020B0604020202020204" pitchFamily="34" charset="0"/>
              <a:cs typeface="Arial" panose="020B0604020202020204" pitchFamily="34" charset="0"/>
            </a:endParaRPr>
          </a:p>
        </p:txBody>
      </p:sp>
      <p:sp>
        <p:nvSpPr>
          <p:cNvPr id="4" name="Shape 1"/>
          <p:cNvSpPr/>
          <p:nvPr/>
        </p:nvSpPr>
        <p:spPr>
          <a:xfrm>
            <a:off x="697468" y="1505426"/>
            <a:ext cx="3774877" cy="1738789"/>
          </a:xfrm>
          <a:prstGeom prst="roundRect">
            <a:avLst>
              <a:gd name="adj" fmla="val 4814"/>
            </a:avLst>
          </a:prstGeom>
          <a:solidFill>
            <a:srgbClr val="CCCCCC"/>
          </a:solidFill>
          <a:ln w="7620">
            <a:solidFill>
              <a:srgbClr val="B2B2B2"/>
            </a:solidFill>
            <a:prstDash val="solid"/>
          </a:ln>
        </p:spPr>
      </p:sp>
      <p:sp>
        <p:nvSpPr>
          <p:cNvPr id="5" name="Text 2"/>
          <p:cNvSpPr/>
          <p:nvPr/>
        </p:nvSpPr>
        <p:spPr>
          <a:xfrm>
            <a:off x="904280" y="1712238"/>
            <a:ext cx="1992868" cy="249079"/>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Arial" panose="020B0604020202020204" pitchFamily="34" charset="0"/>
                <a:ea typeface="Patrick Hand" pitchFamily="34" charset="-122"/>
                <a:cs typeface="Arial" panose="020B0604020202020204" pitchFamily="34" charset="0"/>
              </a:rPr>
              <a:t>AI-Powered Defense</a:t>
            </a:r>
            <a:endParaRPr lang="en-US" sz="1550" b="1" dirty="0">
              <a:latin typeface="Arial" panose="020B0604020202020204" pitchFamily="34" charset="0"/>
              <a:cs typeface="Arial" panose="020B0604020202020204" pitchFamily="34" charset="0"/>
            </a:endParaRPr>
          </a:p>
        </p:txBody>
      </p:sp>
      <p:sp>
        <p:nvSpPr>
          <p:cNvPr id="6" name="Text 3"/>
          <p:cNvSpPr/>
          <p:nvPr/>
        </p:nvSpPr>
        <p:spPr>
          <a:xfrm>
            <a:off x="904280" y="2080855"/>
            <a:ext cx="3361253" cy="95654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Arial" panose="020B0604020202020204" pitchFamily="34" charset="0"/>
                <a:ea typeface="Patrick Hand" pitchFamily="34" charset="-122"/>
                <a:cs typeface="Arial" panose="020B0604020202020204" pitchFamily="34" charset="0"/>
              </a:rPr>
              <a:t>Artificial intelligence will detect and respond to threats faster than humans ever could, learning from each attack</a:t>
            </a:r>
            <a:endParaRPr lang="en-US" sz="1550" dirty="0">
              <a:latin typeface="Arial" panose="020B0604020202020204" pitchFamily="34" charset="0"/>
              <a:cs typeface="Arial" panose="020B0604020202020204" pitchFamily="34" charset="0"/>
            </a:endParaRPr>
          </a:p>
        </p:txBody>
      </p:sp>
      <p:sp>
        <p:nvSpPr>
          <p:cNvPr id="7" name="Shape 4"/>
          <p:cNvSpPr/>
          <p:nvPr/>
        </p:nvSpPr>
        <p:spPr>
          <a:xfrm>
            <a:off x="4671536" y="1505426"/>
            <a:ext cx="3774996" cy="1738789"/>
          </a:xfrm>
          <a:prstGeom prst="roundRect">
            <a:avLst>
              <a:gd name="adj" fmla="val 4814"/>
            </a:avLst>
          </a:prstGeom>
          <a:solidFill>
            <a:srgbClr val="CCCCCC"/>
          </a:solidFill>
          <a:ln w="7620">
            <a:solidFill>
              <a:srgbClr val="B2B2B2"/>
            </a:solidFill>
            <a:prstDash val="solid"/>
          </a:ln>
        </p:spPr>
      </p:sp>
      <p:sp>
        <p:nvSpPr>
          <p:cNvPr id="8" name="Text 5"/>
          <p:cNvSpPr/>
          <p:nvPr/>
        </p:nvSpPr>
        <p:spPr>
          <a:xfrm>
            <a:off x="4878348" y="1712238"/>
            <a:ext cx="1992868" cy="249079"/>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Arial" panose="020B0604020202020204" pitchFamily="34" charset="0"/>
                <a:ea typeface="Patrick Hand" pitchFamily="34" charset="-122"/>
                <a:cs typeface="Arial" panose="020B0604020202020204" pitchFamily="34" charset="0"/>
              </a:rPr>
              <a:t>Quantum Encryption</a:t>
            </a:r>
            <a:endParaRPr lang="en-US" sz="1550" b="1" dirty="0">
              <a:latin typeface="Arial" panose="020B0604020202020204" pitchFamily="34" charset="0"/>
              <a:cs typeface="Arial" panose="020B0604020202020204" pitchFamily="34" charset="0"/>
            </a:endParaRPr>
          </a:p>
        </p:txBody>
      </p:sp>
      <p:sp>
        <p:nvSpPr>
          <p:cNvPr id="9" name="Text 6"/>
          <p:cNvSpPr/>
          <p:nvPr/>
        </p:nvSpPr>
        <p:spPr>
          <a:xfrm>
            <a:off x="4878348" y="2080855"/>
            <a:ext cx="3361373" cy="95654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Arial" panose="020B0604020202020204" pitchFamily="34" charset="0"/>
                <a:ea typeface="Patrick Hand" pitchFamily="34" charset="-122"/>
                <a:cs typeface="Arial" panose="020B0604020202020204" pitchFamily="34" charset="0"/>
              </a:rPr>
              <a:t>Next-generation encryption methods will make data virtually impossible to hack using quantum technology</a:t>
            </a:r>
            <a:endParaRPr lang="en-US" sz="1550" dirty="0">
              <a:latin typeface="Arial" panose="020B0604020202020204" pitchFamily="34" charset="0"/>
              <a:cs typeface="Arial" panose="020B0604020202020204" pitchFamily="34" charset="0"/>
            </a:endParaRPr>
          </a:p>
        </p:txBody>
      </p:sp>
      <p:sp>
        <p:nvSpPr>
          <p:cNvPr id="10" name="Shape 7"/>
          <p:cNvSpPr/>
          <p:nvPr/>
        </p:nvSpPr>
        <p:spPr>
          <a:xfrm>
            <a:off x="697468" y="3443407"/>
            <a:ext cx="7749064" cy="1419939"/>
          </a:xfrm>
          <a:prstGeom prst="roundRect">
            <a:avLst>
              <a:gd name="adj" fmla="val 5895"/>
            </a:avLst>
          </a:prstGeom>
          <a:solidFill>
            <a:srgbClr val="CCCCCC"/>
          </a:solidFill>
          <a:ln w="7620">
            <a:solidFill>
              <a:srgbClr val="B2B2B2"/>
            </a:solidFill>
            <a:prstDash val="solid"/>
          </a:ln>
        </p:spPr>
      </p:sp>
      <p:sp>
        <p:nvSpPr>
          <p:cNvPr id="11" name="Text 8"/>
          <p:cNvSpPr/>
          <p:nvPr/>
        </p:nvSpPr>
        <p:spPr>
          <a:xfrm>
            <a:off x="904280" y="3650218"/>
            <a:ext cx="1992868" cy="249079"/>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Arial" panose="020B0604020202020204" pitchFamily="34" charset="0"/>
                <a:ea typeface="Patrick Hand" pitchFamily="34" charset="-122"/>
                <a:cs typeface="Arial" panose="020B0604020202020204" pitchFamily="34" charset="0"/>
              </a:rPr>
              <a:t>Zero Trust Security</a:t>
            </a:r>
            <a:endParaRPr lang="en-US" sz="1550" b="1" dirty="0">
              <a:latin typeface="Arial" panose="020B0604020202020204" pitchFamily="34" charset="0"/>
              <a:cs typeface="Arial" panose="020B0604020202020204" pitchFamily="34" charset="0"/>
            </a:endParaRPr>
          </a:p>
        </p:txBody>
      </p:sp>
      <p:sp>
        <p:nvSpPr>
          <p:cNvPr id="12" name="Text 9"/>
          <p:cNvSpPr/>
          <p:nvPr/>
        </p:nvSpPr>
        <p:spPr>
          <a:xfrm>
            <a:off x="904280" y="4018836"/>
            <a:ext cx="7335441" cy="63769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Arial" panose="020B0604020202020204" pitchFamily="34" charset="0"/>
                <a:ea typeface="Patrick Hand" pitchFamily="34" charset="-122"/>
                <a:cs typeface="Arial" panose="020B0604020202020204" pitchFamily="34" charset="0"/>
              </a:rPr>
              <a:t>Systems will verify every user and device constantly, never automatically trusting anyone inside the network</a:t>
            </a:r>
            <a:endParaRPr lang="en-US" sz="1550" dirty="0">
              <a:latin typeface="Arial" panose="020B0604020202020204" pitchFamily="34" charset="0"/>
              <a:cs typeface="Arial" panose="020B0604020202020204" pitchFamily="34" charset="0"/>
            </a:endParaRPr>
          </a:p>
        </p:txBody>
      </p:sp>
      <p:sp>
        <p:nvSpPr>
          <p:cNvPr id="13" name="Shape 10"/>
          <p:cNvSpPr/>
          <p:nvPr/>
        </p:nvSpPr>
        <p:spPr>
          <a:xfrm>
            <a:off x="697468" y="5187132"/>
            <a:ext cx="7749064" cy="32504"/>
          </a:xfrm>
          <a:prstGeom prst="rect">
            <a:avLst/>
          </a:prstGeom>
          <a:solidFill>
            <a:srgbClr val="383838">
              <a:alpha val="50000"/>
            </a:srgbClr>
          </a:solidFill>
          <a:ln/>
        </p:spPr>
      </p:sp>
      <p:sp>
        <p:nvSpPr>
          <p:cNvPr id="14" name="Text 11"/>
          <p:cNvSpPr/>
          <p:nvPr/>
        </p:nvSpPr>
        <p:spPr>
          <a:xfrm>
            <a:off x="996315" y="5742623"/>
            <a:ext cx="2391489" cy="298966"/>
          </a:xfrm>
          <a:prstGeom prst="rect">
            <a:avLst/>
          </a:prstGeom>
          <a:noFill/>
          <a:ln/>
        </p:spPr>
        <p:txBody>
          <a:bodyPr wrap="none" lIns="0" tIns="0" rIns="0" bIns="0" rtlCol="0" anchor="t"/>
          <a:lstStyle/>
          <a:p>
            <a:pPr marL="0" indent="0" algn="l">
              <a:lnSpc>
                <a:spcPts val="2350"/>
              </a:lnSpc>
              <a:buNone/>
            </a:pPr>
            <a:r>
              <a:rPr lang="en-US" sz="1850" dirty="0">
                <a:solidFill>
                  <a:srgbClr val="383838"/>
                </a:solidFill>
                <a:latin typeface="Arial" panose="020B0604020202020204" pitchFamily="34" charset="0"/>
                <a:ea typeface="Patrick Hand" pitchFamily="34" charset="-122"/>
                <a:cs typeface="Arial" panose="020B0604020202020204" pitchFamily="34" charset="0"/>
              </a:rPr>
              <a:t>Stay Safe, Stay Vigilant</a:t>
            </a:r>
            <a:endParaRPr lang="en-US" sz="1850" dirty="0">
              <a:latin typeface="Arial" panose="020B0604020202020204" pitchFamily="34" charset="0"/>
              <a:cs typeface="Arial" panose="020B0604020202020204" pitchFamily="34" charset="0"/>
            </a:endParaRPr>
          </a:p>
        </p:txBody>
      </p:sp>
      <p:sp>
        <p:nvSpPr>
          <p:cNvPr id="15" name="Text 12"/>
          <p:cNvSpPr/>
          <p:nvPr/>
        </p:nvSpPr>
        <p:spPr>
          <a:xfrm>
            <a:off x="996315" y="6340435"/>
            <a:ext cx="7450217" cy="95654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Arial" panose="020B0604020202020204" pitchFamily="34" charset="0"/>
                <a:ea typeface="Patrick Hand" pitchFamily="34" charset="-122"/>
                <a:cs typeface="Arial" panose="020B0604020202020204" pitchFamily="34" charset="0"/>
              </a:rPr>
              <a:t>Cyber security isn't just about technology—it's about being aware, informed, and proactive. Every click matters. Every password counts. By following basic safety practices and staying educated about digital threats, we can all contribute to a safer online world. Remember: your security starts with you.</a:t>
            </a:r>
            <a:endParaRPr lang="en-US" sz="1550" dirty="0">
              <a:latin typeface="Arial" panose="020B0604020202020204" pitchFamily="34" charset="0"/>
              <a:cs typeface="Arial" panose="020B0604020202020204" pitchFamily="34" charset="0"/>
            </a:endParaRPr>
          </a:p>
        </p:txBody>
      </p:sp>
      <p:sp>
        <p:nvSpPr>
          <p:cNvPr id="16" name="Shape 13"/>
          <p:cNvSpPr/>
          <p:nvPr/>
        </p:nvSpPr>
        <p:spPr>
          <a:xfrm>
            <a:off x="697468" y="5443776"/>
            <a:ext cx="22860" cy="2077403"/>
          </a:xfrm>
          <a:prstGeom prst="rect">
            <a:avLst/>
          </a:prstGeom>
          <a:solidFill>
            <a:srgbClr val="CCCCCC"/>
          </a:solidFill>
          <a:ln/>
        </p:spPr>
      </p:sp>
      <p:pic>
        <p:nvPicPr>
          <p:cNvPr id="3074" name="Picture 2" descr="The Future of Cybersecurity Education: Leveraging AI for Video Awareness  Campaigns">
            <a:extLst>
              <a:ext uri="{FF2B5EF4-FFF2-40B4-BE49-F238E27FC236}">
                <a16:creationId xmlns:a16="http://schemas.microsoft.com/office/drawing/2014/main" id="{371450AC-B747-92AA-0B37-CCA229BAC6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1141" y="1004769"/>
            <a:ext cx="4512944" cy="5335666"/>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40D4A335-03A0-2C61-0223-259FED9151AA}"/>
              </a:ext>
            </a:extLst>
          </p:cNvPr>
          <p:cNvSpPr/>
          <p:nvPr/>
        </p:nvSpPr>
        <p:spPr>
          <a:xfrm>
            <a:off x="12778451" y="7652417"/>
            <a:ext cx="1979271" cy="598779"/>
          </a:xfrm>
          <a:prstGeom prst="rect">
            <a:avLst/>
          </a:prstGeom>
          <a:solidFill>
            <a:srgbClr val="F7F7F7"/>
          </a:solidFill>
          <a:ln>
            <a:solidFill>
              <a:srgbClr val="F7F7F7"/>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206A65-3F0F-AB1B-6A43-AD762D981B71}"/>
              </a:ext>
            </a:extLst>
          </p:cNvPr>
          <p:cNvSpPr/>
          <p:nvPr/>
        </p:nvSpPr>
        <p:spPr>
          <a:xfrm>
            <a:off x="12778451" y="7652417"/>
            <a:ext cx="1979271" cy="598779"/>
          </a:xfrm>
          <a:prstGeom prst="rect">
            <a:avLst/>
          </a:prstGeom>
          <a:solidFill>
            <a:srgbClr val="F7F7F7"/>
          </a:solidFill>
          <a:ln>
            <a:solidFill>
              <a:srgbClr val="F7F7F7"/>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26" name="Picture 2" descr="What is Cyber Security?">
            <a:extLst>
              <a:ext uri="{FF2B5EF4-FFF2-40B4-BE49-F238E27FC236}">
                <a16:creationId xmlns:a16="http://schemas.microsoft.com/office/drawing/2014/main" id="{0302FD44-2803-A197-4990-0D4BBBDB82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5922" y="-110001"/>
            <a:ext cx="6880302" cy="87677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1CD1EC-9A45-AEBF-9B5A-470BD64295C5}"/>
              </a:ext>
            </a:extLst>
          </p:cNvPr>
          <p:cNvSpPr txBox="1"/>
          <p:nvPr/>
        </p:nvSpPr>
        <p:spPr>
          <a:xfrm>
            <a:off x="1639229" y="892097"/>
            <a:ext cx="3980986" cy="707886"/>
          </a:xfrm>
          <a:prstGeom prst="rect">
            <a:avLst/>
          </a:prstGeom>
          <a:noFill/>
        </p:spPr>
        <p:txBody>
          <a:bodyPr wrap="square">
            <a:spAutoFit/>
          </a:bodyPr>
          <a:lstStyle/>
          <a:p>
            <a:r>
              <a:rPr lang="en-IN" sz="4000" b="1" dirty="0">
                <a:latin typeface="Arial" panose="020B0604020202020204" pitchFamily="34" charset="0"/>
                <a:cs typeface="Arial" panose="020B0604020202020204" pitchFamily="34" charset="0"/>
              </a:rPr>
              <a:t>Conclusion</a:t>
            </a:r>
          </a:p>
        </p:txBody>
      </p:sp>
      <p:sp>
        <p:nvSpPr>
          <p:cNvPr id="8" name="TextBox 7">
            <a:extLst>
              <a:ext uri="{FF2B5EF4-FFF2-40B4-BE49-F238E27FC236}">
                <a16:creationId xmlns:a16="http://schemas.microsoft.com/office/drawing/2014/main" id="{512BB3EA-FF81-F267-D127-6E478CEE87BD}"/>
              </a:ext>
            </a:extLst>
          </p:cNvPr>
          <p:cNvSpPr txBox="1"/>
          <p:nvPr/>
        </p:nvSpPr>
        <p:spPr>
          <a:xfrm>
            <a:off x="1226634" y="2720897"/>
            <a:ext cx="4984594" cy="2862322"/>
          </a:xfrm>
          <a:prstGeom prst="rect">
            <a:avLst/>
          </a:prstGeom>
          <a:noFill/>
        </p:spPr>
        <p:txBody>
          <a:bodyPr wrap="square">
            <a:spAutoFit/>
          </a:bodyPr>
          <a:lstStyle/>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cyber security is very important in today’s digital world.</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It protects our personal data, our online accounts, and our digital systems from cyber attacks.</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By using strong passwords, updating our devices, and being careful online, we can keep ourselves safe.</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Cyber security is not only a technology - it is also our responsibility.</a:t>
            </a:r>
          </a:p>
        </p:txBody>
      </p:sp>
    </p:spTree>
    <p:extLst>
      <p:ext uri="{BB962C8B-B14F-4D97-AF65-F5344CB8AC3E}">
        <p14:creationId xmlns:p14="http://schemas.microsoft.com/office/powerpoint/2010/main" val="2972532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2EF2BC-E1B6-61FB-56B8-40AAF616DA6A}"/>
              </a:ext>
            </a:extLst>
          </p:cNvPr>
          <p:cNvSpPr/>
          <p:nvPr/>
        </p:nvSpPr>
        <p:spPr>
          <a:xfrm>
            <a:off x="12778451" y="7652417"/>
            <a:ext cx="1979271" cy="598779"/>
          </a:xfrm>
          <a:prstGeom prst="rect">
            <a:avLst/>
          </a:prstGeom>
          <a:solidFill>
            <a:srgbClr val="F7F7F7"/>
          </a:solidFill>
          <a:ln>
            <a:solidFill>
              <a:srgbClr val="F7F7F7"/>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100" name="Picture 4" descr="1,774 Thank You Presentation Animals Stock Photos - Free &amp; Royalty-Free  Stock Photos from Dreamstime">
            <a:extLst>
              <a:ext uri="{FF2B5EF4-FFF2-40B4-BE49-F238E27FC236}">
                <a16:creationId xmlns:a16="http://schemas.microsoft.com/office/drawing/2014/main" id="{DAED9A34-11E7-D6F2-8A2A-18F71E90C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757722" cy="8419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136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600</Words>
  <Application>Microsoft Office PowerPoint</Application>
  <PresentationFormat>Custom</PresentationFormat>
  <Paragraphs>78</Paragraphs>
  <Slides>10</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Deepika Konderu</dc:creator>
  <cp:lastModifiedBy>Deepika Konderu</cp:lastModifiedBy>
  <cp:revision>4</cp:revision>
  <dcterms:created xsi:type="dcterms:W3CDTF">2026-01-01T06:24:39Z</dcterms:created>
  <dcterms:modified xsi:type="dcterms:W3CDTF">2026-01-02T03:47:28Z</dcterms:modified>
</cp:coreProperties>
</file>